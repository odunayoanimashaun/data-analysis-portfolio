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1" r:id="rId4"/>
    <p:sldId id="258" r:id="rId5"/>
    <p:sldId id="260" r:id="rId6"/>
    <p:sldId id="259" r:id="rId7"/>
    <p:sldId id="262" r:id="rId8"/>
    <p:sldId id="266" r:id="rId9"/>
    <p:sldId id="263" r:id="rId10"/>
    <p:sldId id="264" r:id="rId11"/>
    <p:sldId id="265" r:id="rId12"/>
    <p:sldId id="267" r:id="rId13"/>
    <p:sldId id="268"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6DC812-5DE1-455A-AF5C-1106D7219A0C}"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8D1188-9756-4D42-B3FF-AE5243E18934}" type="slidenum">
              <a:rPr lang="en-US" smtClean="0"/>
              <a:t>‹#›</a:t>
            </a:fld>
            <a:endParaRPr lang="en-US"/>
          </a:p>
        </p:txBody>
      </p:sp>
    </p:spTree>
    <p:extLst>
      <p:ext uri="{BB962C8B-B14F-4D97-AF65-F5344CB8AC3E}">
        <p14:creationId xmlns:p14="http://schemas.microsoft.com/office/powerpoint/2010/main" val="129672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8D1188-9756-4D42-B3FF-AE5243E18934}" type="slidenum">
              <a:rPr lang="en-US" smtClean="0"/>
              <a:t>12</a:t>
            </a:fld>
            <a:endParaRPr lang="en-US"/>
          </a:p>
        </p:txBody>
      </p:sp>
    </p:spTree>
    <p:extLst>
      <p:ext uri="{BB962C8B-B14F-4D97-AF65-F5344CB8AC3E}">
        <p14:creationId xmlns:p14="http://schemas.microsoft.com/office/powerpoint/2010/main" val="388348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D240D-620C-9D34-05C7-C99DCC73BB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48FC34-B06B-9C43-9E5B-BAFCA89E1D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F03999-6BA9-F844-803A-BD016D2D59E5}"/>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5" name="Footer Placeholder 4">
            <a:extLst>
              <a:ext uri="{FF2B5EF4-FFF2-40B4-BE49-F238E27FC236}">
                <a16:creationId xmlns:a16="http://schemas.microsoft.com/office/drawing/2014/main" id="{F7280962-182D-8D99-1875-E0E4CB8614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1934B-DE49-08D1-701F-499B2C00CCE2}"/>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1086261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5C47D-0F97-F861-C6CF-A0865F0EBD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EF8AD-77EE-8302-0243-B50F8B898D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262221-9EC1-E59A-0F31-C9D61DF3CEEF}"/>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5" name="Footer Placeholder 4">
            <a:extLst>
              <a:ext uri="{FF2B5EF4-FFF2-40B4-BE49-F238E27FC236}">
                <a16:creationId xmlns:a16="http://schemas.microsoft.com/office/drawing/2014/main" id="{FD8E9C06-9FB6-AD5C-E4F5-ADB31871B7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788131-013F-E655-D7E1-3B5CDD41AC52}"/>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3206769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D1E8C-66BE-D4B1-5076-B7CFD5E12A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027012-175C-A8CD-8516-48A74E1C77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CC22A6-BC76-5C02-B830-3427399C7767}"/>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5" name="Footer Placeholder 4">
            <a:extLst>
              <a:ext uri="{FF2B5EF4-FFF2-40B4-BE49-F238E27FC236}">
                <a16:creationId xmlns:a16="http://schemas.microsoft.com/office/drawing/2014/main" id="{5439D93C-914C-1020-E218-EA6660C572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29D095-FA17-FD3A-47F5-BDF270289533}"/>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3202914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33DA5-5975-D015-CF33-A0D5E35643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7A704A-09CA-AD09-1662-501220A408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B4E5A5-6FB9-3A38-E464-C9892D49BE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7B1CEF-7365-6C0B-D9EE-4D50312566D7}"/>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6" name="Footer Placeholder 5">
            <a:extLst>
              <a:ext uri="{FF2B5EF4-FFF2-40B4-BE49-F238E27FC236}">
                <a16:creationId xmlns:a16="http://schemas.microsoft.com/office/drawing/2014/main" id="{F6DAD483-6962-1B97-6D5A-E5D96FA08B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19384F-644F-58DD-49ED-2946BA30C45E}"/>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2976763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692AB-1D63-9E51-0E41-4F9C9D282E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F8AF16-8456-1092-3454-C53FB53BE0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E1158E-66BE-806E-60B6-8EAA5FA922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50D204-8E41-C6A7-9FD2-8247BE87DA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EA8D8C-553D-75CE-08D3-437840CC9D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CB2A7A-03B4-456F-C45B-5FF591007322}"/>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8" name="Footer Placeholder 7">
            <a:extLst>
              <a:ext uri="{FF2B5EF4-FFF2-40B4-BE49-F238E27FC236}">
                <a16:creationId xmlns:a16="http://schemas.microsoft.com/office/drawing/2014/main" id="{66CD7532-F7AC-FECF-3644-99B481F035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BB5F49-E412-2B07-6BD8-7FBEEB95D148}"/>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791778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4573-214A-AF27-2AEC-43B5CE9D70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B9DE3-3633-0EC7-496A-BDAE22510AF9}"/>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4" name="Footer Placeholder 3">
            <a:extLst>
              <a:ext uri="{FF2B5EF4-FFF2-40B4-BE49-F238E27FC236}">
                <a16:creationId xmlns:a16="http://schemas.microsoft.com/office/drawing/2014/main" id="{C9E9BFE1-0643-D2FC-A013-741213F36B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90C301-299B-97A2-40BE-DC20E7BE7088}"/>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3971013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28C1B-9AFF-9579-C9D4-A2148D452A6C}"/>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3" name="Footer Placeholder 2">
            <a:extLst>
              <a:ext uri="{FF2B5EF4-FFF2-40B4-BE49-F238E27FC236}">
                <a16:creationId xmlns:a16="http://schemas.microsoft.com/office/drawing/2014/main" id="{8780EABB-BC28-8AA9-E201-C65A5E9D9B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4911FD-9592-F49D-C8BD-711D53658691}"/>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3454992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A0A66-9F3C-A9EC-F4A1-0EBDEB0F9B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472CA3-0F18-CD00-D6D6-8A8BCF8624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05874E-C8A0-1811-2E2F-BF5AF7B6C2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5F9474-D160-C3B1-3DEF-C80ACB0CCE6D}"/>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6" name="Footer Placeholder 5">
            <a:extLst>
              <a:ext uri="{FF2B5EF4-FFF2-40B4-BE49-F238E27FC236}">
                <a16:creationId xmlns:a16="http://schemas.microsoft.com/office/drawing/2014/main" id="{93960CBC-C176-CA1F-7215-0E66519FDE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D69747-560E-862C-A834-3BC36A9829B9}"/>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1425056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750E1-EA95-6618-E22F-BC54FD94BB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201B17-6BDB-52B0-FFB0-45C9CD7D03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B196F5-DCD4-8CD7-A0A3-5FB96265B3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89744-CF10-B67A-87FB-B399119C499B}"/>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6" name="Footer Placeholder 5">
            <a:extLst>
              <a:ext uri="{FF2B5EF4-FFF2-40B4-BE49-F238E27FC236}">
                <a16:creationId xmlns:a16="http://schemas.microsoft.com/office/drawing/2014/main" id="{6C5906DE-C805-CCAB-6BCE-E8703E00D2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A4FD3E-266A-3258-45E1-46227EC490D5}"/>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2780452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2CA8A-5F77-086D-98D5-E98FE2A358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8A8032-0C2B-756F-CD99-A9AE379D25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5C8D7C-A363-C333-33AF-55B32ACB4646}"/>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5" name="Footer Placeholder 4">
            <a:extLst>
              <a:ext uri="{FF2B5EF4-FFF2-40B4-BE49-F238E27FC236}">
                <a16:creationId xmlns:a16="http://schemas.microsoft.com/office/drawing/2014/main" id="{935B80DE-4D3E-2881-684F-9E5D2DA282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361CE7-8DF8-B3E3-E57D-173FACDDD5C5}"/>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60730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579118-76B8-AB4C-781C-CF7B865FAD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CB4D1-7711-86FA-7239-02C684CAD5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3AFA8-48CA-6377-0FDE-307B9D14F497}"/>
              </a:ext>
            </a:extLst>
          </p:cNvPr>
          <p:cNvSpPr>
            <a:spLocks noGrp="1"/>
          </p:cNvSpPr>
          <p:nvPr>
            <p:ph type="dt" sz="half" idx="10"/>
          </p:nvPr>
        </p:nvSpPr>
        <p:spPr/>
        <p:txBody>
          <a:bodyPr/>
          <a:lstStyle/>
          <a:p>
            <a:fld id="{5A6259C3-7D44-4E17-BC17-98E0A8449574}" type="datetimeFigureOut">
              <a:rPr lang="en-US" smtClean="0"/>
              <a:t>8/15/2026</a:t>
            </a:fld>
            <a:endParaRPr lang="en-US"/>
          </a:p>
        </p:txBody>
      </p:sp>
      <p:sp>
        <p:nvSpPr>
          <p:cNvPr id="5" name="Footer Placeholder 4">
            <a:extLst>
              <a:ext uri="{FF2B5EF4-FFF2-40B4-BE49-F238E27FC236}">
                <a16:creationId xmlns:a16="http://schemas.microsoft.com/office/drawing/2014/main" id="{92BEAA9D-BD1A-8317-0725-8EE0907466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EC6D5-1C21-9F5F-997B-DFB4B24E49F9}"/>
              </a:ext>
            </a:extLst>
          </p:cNvPr>
          <p:cNvSpPr>
            <a:spLocks noGrp="1"/>
          </p:cNvSpPr>
          <p:nvPr>
            <p:ph type="sldNum" sz="quarter" idx="12"/>
          </p:nvPr>
        </p:nvSpPr>
        <p:spPr/>
        <p:txBody>
          <a:bodyPr/>
          <a:lstStyle/>
          <a:p>
            <a:fld id="{139351C0-84C6-47B7-9146-D6B6269110DD}" type="slidenum">
              <a:rPr lang="en-US" smtClean="0"/>
              <a:t>‹#›</a:t>
            </a:fld>
            <a:endParaRPr lang="en-US"/>
          </a:p>
        </p:txBody>
      </p:sp>
    </p:spTree>
    <p:extLst>
      <p:ext uri="{BB962C8B-B14F-4D97-AF65-F5344CB8AC3E}">
        <p14:creationId xmlns:p14="http://schemas.microsoft.com/office/powerpoint/2010/main" val="692483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3C6AAF-A80E-DBD5-D87F-5B868C8E3C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F3B848-1AD1-0E66-8B9F-FD46F40A90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F48CA7-7D57-D0A8-FDC1-3F72F6ED3C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6259C3-7D44-4E17-BC17-98E0A8449574}" type="datetimeFigureOut">
              <a:rPr lang="en-US" smtClean="0"/>
              <a:t>8/15/2026</a:t>
            </a:fld>
            <a:endParaRPr lang="en-US"/>
          </a:p>
        </p:txBody>
      </p:sp>
      <p:sp>
        <p:nvSpPr>
          <p:cNvPr id="5" name="Footer Placeholder 4">
            <a:extLst>
              <a:ext uri="{FF2B5EF4-FFF2-40B4-BE49-F238E27FC236}">
                <a16:creationId xmlns:a16="http://schemas.microsoft.com/office/drawing/2014/main" id="{1703FB12-8754-B4D1-9F4D-8B4C2CDE24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BA0D54-31EF-3EF1-C044-D0C6D91162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9351C0-84C6-47B7-9146-D6B6269110DD}" type="slidenum">
              <a:rPr lang="en-US" smtClean="0"/>
              <a:t>‹#›</a:t>
            </a:fld>
            <a:endParaRPr lang="en-US"/>
          </a:p>
        </p:txBody>
      </p:sp>
    </p:spTree>
    <p:extLst>
      <p:ext uri="{BB962C8B-B14F-4D97-AF65-F5344CB8AC3E}">
        <p14:creationId xmlns:p14="http://schemas.microsoft.com/office/powerpoint/2010/main" val="3869610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63F610-2EBF-3F6C-0409-756369E19AEE}"/>
              </a:ext>
            </a:extLst>
          </p:cNvPr>
          <p:cNvPicPr>
            <a:picLocks noChangeAspect="1"/>
          </p:cNvPicPr>
          <p:nvPr/>
        </p:nvPicPr>
        <p:blipFill>
          <a:blip r:embed="rId2">
            <a:extLst>
              <a:ext uri="{28A0092B-C50C-407E-A947-70E740481C1C}">
                <a14:useLocalDpi xmlns:a14="http://schemas.microsoft.com/office/drawing/2010/main" val="0"/>
              </a:ext>
            </a:extLst>
          </a:blip>
          <a:srcRect t="35238" b="34762"/>
          <a:stretch>
            <a:fillRect/>
          </a:stretch>
        </p:blipFill>
        <p:spPr>
          <a:xfrm>
            <a:off x="0" y="0"/>
            <a:ext cx="12192000" cy="6858000"/>
          </a:xfrm>
          <a:prstGeom prst="rect">
            <a:avLst/>
          </a:prstGeom>
        </p:spPr>
      </p:pic>
    </p:spTree>
    <p:extLst>
      <p:ext uri="{BB962C8B-B14F-4D97-AF65-F5344CB8AC3E}">
        <p14:creationId xmlns:p14="http://schemas.microsoft.com/office/powerpoint/2010/main" val="938280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5816-DE4A-364E-B848-A67B9F9DC1E8}"/>
              </a:ext>
            </a:extLst>
          </p:cNvPr>
          <p:cNvSpPr>
            <a:spLocks noGrp="1"/>
          </p:cNvSpPr>
          <p:nvPr>
            <p:ph type="title"/>
          </p:nvPr>
        </p:nvSpPr>
        <p:spPr>
          <a:xfrm>
            <a:off x="838199" y="-33438"/>
            <a:ext cx="10515601" cy="1862238"/>
          </a:xfrm>
        </p:spPr>
        <p:txBody>
          <a:bodyPr>
            <a:normAutofit/>
          </a:bodyPr>
          <a:lstStyle/>
          <a:p>
            <a:r>
              <a:rPr lang="en-US" b="1" dirty="0">
                <a:solidFill>
                  <a:schemeClr val="accent6">
                    <a:lumMod val="75000"/>
                  </a:schemeClr>
                </a:solidFill>
                <a:latin typeface="Times New Roman" panose="02020603050405020304" pitchFamily="18" charset="0"/>
                <a:cs typeface="Times New Roman" panose="02020603050405020304" pitchFamily="18" charset="0"/>
              </a:rPr>
              <a:t>Background of the study</a:t>
            </a:r>
          </a:p>
        </p:txBody>
      </p:sp>
      <p:sp>
        <p:nvSpPr>
          <p:cNvPr id="3" name="Content Placeholder 2">
            <a:extLst>
              <a:ext uri="{FF2B5EF4-FFF2-40B4-BE49-F238E27FC236}">
                <a16:creationId xmlns:a16="http://schemas.microsoft.com/office/drawing/2014/main" id="{A9B0BAB3-4689-05D4-0727-03D65A080E43}"/>
              </a:ext>
            </a:extLst>
          </p:cNvPr>
          <p:cNvSpPr>
            <a:spLocks noGrp="1"/>
          </p:cNvSpPr>
          <p:nvPr>
            <p:ph idx="1"/>
          </p:nvPr>
        </p:nvSpPr>
        <p:spPr>
          <a:xfrm>
            <a:off x="838199" y="1262743"/>
            <a:ext cx="10700657" cy="5040086"/>
          </a:xfrm>
        </p:spPr>
        <p:txBody>
          <a:bodyPr>
            <a:normAutofit fontScale="62500" lnSpcReduction="20000"/>
          </a:bodyPr>
          <a:lstStyle/>
          <a:p>
            <a:pPr marL="0" indent="0">
              <a:buNone/>
            </a:pPr>
            <a:r>
              <a:rPr lang="en-US" dirty="0">
                <a:solidFill>
                  <a:schemeClr val="accent6">
                    <a:lumMod val="75000"/>
                  </a:schemeClr>
                </a:solidFill>
                <a:latin typeface="Times New Roman" panose="02020603050405020304" pitchFamily="18" charset="0"/>
                <a:cs typeface="Times New Roman" panose="02020603050405020304" pitchFamily="18" charset="0"/>
              </a:rPr>
              <a:t>Inflation is one of the major economic challenges facing Nigeria ,Inflation is  the sustained increase in the general price level of goods and services</a:t>
            </a:r>
          </a:p>
          <a:p>
            <a:pPr marL="0" indent="0">
              <a:buNone/>
            </a:pPr>
            <a:r>
              <a:rPr lang="en-US" dirty="0">
                <a:solidFill>
                  <a:schemeClr val="accent6">
                    <a:lumMod val="75000"/>
                  </a:schemeClr>
                </a:solidFill>
                <a:latin typeface="Times New Roman" panose="02020603050405020304" pitchFamily="18" charset="0"/>
                <a:cs typeface="Times New Roman" panose="02020603050405020304" pitchFamily="18" charset="0"/>
              </a:rPr>
              <a:t>It affects:</a:t>
            </a:r>
          </a:p>
          <a:p>
            <a:r>
              <a:rPr lang="en-US" dirty="0">
                <a:solidFill>
                  <a:schemeClr val="accent6">
                    <a:lumMod val="75000"/>
                  </a:schemeClr>
                </a:solidFill>
                <a:latin typeface="Times New Roman" panose="02020603050405020304" pitchFamily="18" charset="0"/>
                <a:cs typeface="Times New Roman" panose="02020603050405020304" pitchFamily="18" charset="0"/>
              </a:rPr>
              <a:t>Household purchasing power</a:t>
            </a:r>
          </a:p>
          <a:p>
            <a:r>
              <a:rPr lang="en-US" dirty="0">
                <a:solidFill>
                  <a:schemeClr val="accent6">
                    <a:lumMod val="75000"/>
                  </a:schemeClr>
                </a:solidFill>
                <a:latin typeface="Times New Roman" panose="02020603050405020304" pitchFamily="18" charset="0"/>
                <a:cs typeface="Times New Roman" panose="02020603050405020304" pitchFamily="18" charset="0"/>
              </a:rPr>
              <a:t>Cost of food and transportation</a:t>
            </a:r>
          </a:p>
          <a:p>
            <a:r>
              <a:rPr lang="en-US" dirty="0">
                <a:solidFill>
                  <a:schemeClr val="accent6">
                    <a:lumMod val="75000"/>
                  </a:schemeClr>
                </a:solidFill>
                <a:latin typeface="Times New Roman" panose="02020603050405020304" pitchFamily="18" charset="0"/>
                <a:cs typeface="Times New Roman" panose="02020603050405020304" pitchFamily="18" charset="0"/>
              </a:rPr>
              <a:t>Business operating costs</a:t>
            </a:r>
          </a:p>
          <a:p>
            <a:r>
              <a:rPr lang="en-US" dirty="0">
                <a:solidFill>
                  <a:schemeClr val="accent6">
                    <a:lumMod val="75000"/>
                  </a:schemeClr>
                </a:solidFill>
                <a:latin typeface="Times New Roman" panose="02020603050405020304" pitchFamily="18" charset="0"/>
                <a:cs typeface="Times New Roman" panose="02020603050405020304" pitchFamily="18" charset="0"/>
              </a:rPr>
              <a:t>Savings and investment</a:t>
            </a:r>
          </a:p>
          <a:p>
            <a:r>
              <a:rPr lang="en-US" dirty="0">
                <a:solidFill>
                  <a:schemeClr val="accent6">
                    <a:lumMod val="75000"/>
                  </a:schemeClr>
                </a:solidFill>
                <a:latin typeface="Times New Roman" panose="02020603050405020304" pitchFamily="18" charset="0"/>
                <a:cs typeface="Times New Roman" panose="02020603050405020304" pitchFamily="18" charset="0"/>
              </a:rPr>
              <a:t>Interest rates</a:t>
            </a:r>
          </a:p>
          <a:p>
            <a:r>
              <a:rPr lang="en-US" dirty="0">
                <a:solidFill>
                  <a:schemeClr val="accent6">
                    <a:lumMod val="75000"/>
                  </a:schemeClr>
                </a:solidFill>
                <a:latin typeface="Times New Roman" panose="02020603050405020304" pitchFamily="18" charset="0"/>
                <a:cs typeface="Times New Roman" panose="02020603050405020304" pitchFamily="18" charset="0"/>
              </a:rPr>
              <a:t>Government spending</a:t>
            </a:r>
          </a:p>
          <a:p>
            <a:r>
              <a:rPr lang="en-US" dirty="0">
                <a:solidFill>
                  <a:schemeClr val="accent6">
                    <a:lumMod val="75000"/>
                  </a:schemeClr>
                </a:solidFill>
                <a:latin typeface="Times New Roman" panose="02020603050405020304" pitchFamily="18" charset="0"/>
                <a:cs typeface="Times New Roman" panose="02020603050405020304" pitchFamily="18" charset="0"/>
              </a:rPr>
              <a:t>Exchange rate stability</a:t>
            </a:r>
          </a:p>
          <a:p>
            <a:r>
              <a:rPr lang="en-US" dirty="0">
                <a:solidFill>
                  <a:schemeClr val="accent6">
                    <a:lumMod val="75000"/>
                  </a:schemeClr>
                </a:solidFill>
                <a:latin typeface="Times New Roman" panose="02020603050405020304" pitchFamily="18" charset="0"/>
                <a:cs typeface="Times New Roman" panose="02020603050405020304" pitchFamily="18" charset="0"/>
              </a:rPr>
              <a:t>Overall economic welfare</a:t>
            </a:r>
          </a:p>
          <a:p>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0" indent="0">
              <a:buNone/>
            </a:pPr>
            <a:r>
              <a:rPr lang="en-US" dirty="0">
                <a:solidFill>
                  <a:schemeClr val="accent6">
                    <a:lumMod val="75000"/>
                  </a:schemeClr>
                </a:solidFill>
                <a:latin typeface="Times New Roman" panose="02020603050405020304" pitchFamily="18" charset="0"/>
                <a:cs typeface="Times New Roman" panose="02020603050405020304" pitchFamily="18" charset="0"/>
              </a:rPr>
              <a:t>Nigeria has experienced periods of both moderate and extremely high inflation particularly during periods of economic and currency instability</a:t>
            </a:r>
          </a:p>
          <a:p>
            <a:pPr marL="0" indent="0">
              <a:buNone/>
            </a:pPr>
            <a:r>
              <a:rPr lang="en-US" dirty="0">
                <a:solidFill>
                  <a:schemeClr val="accent6">
                    <a:lumMod val="75000"/>
                  </a:schemeClr>
                </a:solidFill>
                <a:latin typeface="Times New Roman" panose="02020603050405020304" pitchFamily="18" charset="0"/>
                <a:cs typeface="Times New Roman" panose="02020603050405020304" pitchFamily="18" charset="0"/>
              </a:rPr>
              <a:t>When prices continuously increase the same amount of money buys fewer goods and services Understanding what is associated with inflation can therefore help policymakers and businesses make better decisions</a:t>
            </a:r>
          </a:p>
          <a:p>
            <a:endParaRPr lang="en-US" dirty="0">
              <a:solidFill>
                <a:schemeClr val="accent6">
                  <a:lumMod val="75000"/>
                </a:schemeClr>
              </a:solidFill>
              <a:latin typeface="Times New Roman" panose="02020603050405020304" pitchFamily="18" charset="0"/>
              <a:cs typeface="Times New Roman" panose="02020603050405020304" pitchFamily="18" charset="0"/>
            </a:endParaRPr>
          </a:p>
          <a:p>
            <a:endParaRPr lang="en-US" dirty="0">
              <a:solidFill>
                <a:schemeClr val="accent6">
                  <a:lumMod val="75000"/>
                </a:schemeClr>
              </a:solidFill>
            </a:endParaRPr>
          </a:p>
        </p:txBody>
      </p:sp>
      <p:sp>
        <p:nvSpPr>
          <p:cNvPr id="5" name="Rectangle 4">
            <a:extLst>
              <a:ext uri="{FF2B5EF4-FFF2-40B4-BE49-F238E27FC236}">
                <a16:creationId xmlns:a16="http://schemas.microsoft.com/office/drawing/2014/main" id="{27501CF5-7294-37D8-7D11-730AE6667EF4}"/>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2805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4E061-E2CE-593C-0049-A04CB27AEB97}"/>
              </a:ext>
            </a:extLst>
          </p:cNvPr>
          <p:cNvSpPr>
            <a:spLocks noGrp="1"/>
          </p:cNvSpPr>
          <p:nvPr>
            <p:ph type="title"/>
          </p:nvPr>
        </p:nvSpPr>
        <p:spPr/>
        <p:txBody>
          <a:bodyPr/>
          <a:lstStyle/>
          <a:p>
            <a:r>
              <a:rPr lang="en-US" b="1" dirty="0">
                <a:solidFill>
                  <a:schemeClr val="accent6">
                    <a:lumMod val="75000"/>
                  </a:schemeClr>
                </a:solidFill>
                <a:latin typeface="Times New Roman" panose="02020603050405020304" pitchFamily="18" charset="0"/>
                <a:cs typeface="Times New Roman" panose="02020603050405020304" pitchFamily="18" charset="0"/>
              </a:rPr>
              <a:t>About the Dataset</a:t>
            </a:r>
          </a:p>
        </p:txBody>
      </p:sp>
      <p:sp>
        <p:nvSpPr>
          <p:cNvPr id="3" name="Content Placeholder 2">
            <a:extLst>
              <a:ext uri="{FF2B5EF4-FFF2-40B4-BE49-F238E27FC236}">
                <a16:creationId xmlns:a16="http://schemas.microsoft.com/office/drawing/2014/main" id="{81539681-02C5-BAE2-2EA4-574F2D37C16D}"/>
              </a:ext>
            </a:extLst>
          </p:cNvPr>
          <p:cNvSpPr>
            <a:spLocks noGrp="1"/>
          </p:cNvSpPr>
          <p:nvPr>
            <p:ph idx="1"/>
          </p:nvPr>
        </p:nvSpPr>
        <p:spPr>
          <a:xfrm>
            <a:off x="838200" y="1534886"/>
            <a:ext cx="10515600" cy="4642077"/>
          </a:xfrm>
        </p:spPr>
        <p:txBody>
          <a:bodyPr>
            <a:normAutofit/>
          </a:bodyPr>
          <a:lstStyle/>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The dataset used for this analysis was sourced from the </a:t>
            </a:r>
            <a:r>
              <a:rPr lang="en-US" sz="1800" b="1" dirty="0">
                <a:solidFill>
                  <a:schemeClr val="accent6">
                    <a:lumMod val="75000"/>
                  </a:schemeClr>
                </a:solidFill>
                <a:latin typeface="Times New Roman" panose="02020603050405020304" pitchFamily="18" charset="0"/>
                <a:cs typeface="Times New Roman" panose="02020603050405020304" pitchFamily="18" charset="0"/>
              </a:rPr>
              <a:t>World</a:t>
            </a:r>
            <a:r>
              <a:rPr lang="en-US" sz="1800" dirty="0">
                <a:solidFill>
                  <a:schemeClr val="accent6">
                    <a:lumMod val="75000"/>
                  </a:schemeClr>
                </a:solidFill>
                <a:latin typeface="Times New Roman" panose="02020603050405020304" pitchFamily="18" charset="0"/>
                <a:cs typeface="Times New Roman" panose="02020603050405020304" pitchFamily="18" charset="0"/>
              </a:rPr>
              <a:t> </a:t>
            </a:r>
            <a:r>
              <a:rPr lang="en-US" sz="1800" b="1" dirty="0">
                <a:solidFill>
                  <a:schemeClr val="accent6">
                    <a:lumMod val="75000"/>
                  </a:schemeClr>
                </a:solidFill>
                <a:latin typeface="Times New Roman" panose="02020603050405020304" pitchFamily="18" charset="0"/>
                <a:cs typeface="Times New Roman" panose="02020603050405020304" pitchFamily="18" charset="0"/>
              </a:rPr>
              <a:t>Bank </a:t>
            </a:r>
            <a:r>
              <a:rPr lang="en-US" sz="1800" dirty="0">
                <a:solidFill>
                  <a:schemeClr val="accent6">
                    <a:lumMod val="75000"/>
                  </a:schemeClr>
                </a:solidFill>
                <a:latin typeface="Times New Roman" panose="02020603050405020304" pitchFamily="18" charset="0"/>
                <a:cs typeface="Times New Roman" panose="02020603050405020304" pitchFamily="18" charset="0"/>
              </a:rPr>
              <a:t>,specifically covering  Nigerian macroeconomic indicators from 1991 to2024 is contains annual real-world macroeconomics observation for Nigeria</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It contains annual observations for key economic variables used to examine Nigeria’s inflation dynamics</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From </a:t>
            </a:r>
            <a:r>
              <a:rPr lang="en-US" sz="1800" b="1" dirty="0">
                <a:solidFill>
                  <a:schemeClr val="accent6">
                    <a:lumMod val="75000"/>
                  </a:schemeClr>
                </a:solidFill>
                <a:latin typeface="Times New Roman" panose="02020603050405020304" pitchFamily="18" charset="0"/>
                <a:cs typeface="Times New Roman" panose="02020603050405020304" pitchFamily="18" charset="0"/>
              </a:rPr>
              <a:t>World</a:t>
            </a:r>
            <a:r>
              <a:rPr lang="en-US" sz="1800" dirty="0">
                <a:solidFill>
                  <a:schemeClr val="accent6">
                    <a:lumMod val="75000"/>
                  </a:schemeClr>
                </a:solidFill>
                <a:latin typeface="Times New Roman" panose="02020603050405020304" pitchFamily="18" charset="0"/>
                <a:cs typeface="Times New Roman" panose="02020603050405020304" pitchFamily="18" charset="0"/>
              </a:rPr>
              <a:t> </a:t>
            </a:r>
            <a:r>
              <a:rPr lang="en-US" sz="1800" b="1" dirty="0">
                <a:solidFill>
                  <a:schemeClr val="accent6">
                    <a:lumMod val="75000"/>
                  </a:schemeClr>
                </a:solidFill>
                <a:latin typeface="Times New Roman" panose="02020603050405020304" pitchFamily="18" charset="0"/>
                <a:cs typeface="Times New Roman" panose="02020603050405020304" pitchFamily="18" charset="0"/>
              </a:rPr>
              <a:t>Bank</a:t>
            </a:r>
          </a:p>
          <a:p>
            <a:r>
              <a:rPr lang="en-US" sz="1800" dirty="0">
                <a:solidFill>
                  <a:schemeClr val="accent6">
                    <a:lumMod val="75000"/>
                  </a:schemeClr>
                </a:solidFill>
                <a:latin typeface="Times New Roman" panose="02020603050405020304" pitchFamily="18" charset="0"/>
                <a:cs typeface="Times New Roman" panose="02020603050405020304" pitchFamily="18" charset="0"/>
              </a:rPr>
              <a:t>Inflation rate –The main outcome</a:t>
            </a:r>
          </a:p>
          <a:p>
            <a:r>
              <a:rPr lang="en-US" sz="1800" dirty="0">
                <a:solidFill>
                  <a:schemeClr val="accent6">
                    <a:lumMod val="75000"/>
                  </a:schemeClr>
                </a:solidFill>
                <a:latin typeface="Times New Roman" panose="02020603050405020304" pitchFamily="18" charset="0"/>
                <a:cs typeface="Times New Roman" panose="02020603050405020304" pitchFamily="18" charset="0"/>
              </a:rPr>
              <a:t>Money supply –Used to examine the relationship between Monetary expansion and inflation</a:t>
            </a:r>
          </a:p>
          <a:p>
            <a:r>
              <a:rPr lang="en-US" sz="1800" dirty="0">
                <a:solidFill>
                  <a:schemeClr val="accent6">
                    <a:lumMod val="75000"/>
                  </a:schemeClr>
                </a:solidFill>
                <a:latin typeface="Times New Roman" panose="02020603050405020304" pitchFamily="18" charset="0"/>
                <a:cs typeface="Times New Roman" panose="02020603050405020304" pitchFamily="18" charset="0"/>
              </a:rPr>
              <a:t>Exchange Rate –Used to assess the relationship between naira depreciation and inflation</a:t>
            </a:r>
          </a:p>
          <a:p>
            <a:r>
              <a:rPr lang="en-US" sz="1800" dirty="0">
                <a:solidFill>
                  <a:schemeClr val="accent6">
                    <a:lumMod val="75000"/>
                  </a:schemeClr>
                </a:solidFill>
                <a:latin typeface="Times New Roman" panose="02020603050405020304" pitchFamily="18" charset="0"/>
                <a:cs typeface="Times New Roman" panose="02020603050405020304" pitchFamily="18" charset="0"/>
              </a:rPr>
              <a:t>Tax Revenue- Used to examine the relationship between government revenue and inflation</a:t>
            </a:r>
          </a:p>
          <a:p>
            <a:r>
              <a:rPr lang="en-US" sz="1800" dirty="0">
                <a:solidFill>
                  <a:schemeClr val="accent6">
                    <a:lumMod val="75000"/>
                  </a:schemeClr>
                </a:solidFill>
                <a:latin typeface="Times New Roman" panose="02020603050405020304" pitchFamily="18" charset="0"/>
                <a:cs typeface="Times New Roman" panose="02020603050405020304" pitchFamily="18" charset="0"/>
              </a:rPr>
              <a:t>Unemployment-used to assess the relationship between </a:t>
            </a:r>
            <a:r>
              <a:rPr lang="en-US" sz="1800" dirty="0" err="1">
                <a:solidFill>
                  <a:schemeClr val="accent6">
                    <a:lumMod val="75000"/>
                  </a:schemeClr>
                </a:solidFill>
                <a:latin typeface="Times New Roman" panose="02020603050405020304" pitchFamily="18" charset="0"/>
                <a:cs typeface="Times New Roman" panose="02020603050405020304" pitchFamily="18" charset="0"/>
              </a:rPr>
              <a:t>labour</a:t>
            </a:r>
            <a:r>
              <a:rPr lang="en-US" sz="1800" dirty="0">
                <a:solidFill>
                  <a:schemeClr val="accent6">
                    <a:lumMod val="75000"/>
                  </a:schemeClr>
                </a:solidFill>
                <a:latin typeface="Times New Roman" panose="02020603050405020304" pitchFamily="18" charset="0"/>
                <a:cs typeface="Times New Roman" panose="02020603050405020304" pitchFamily="18" charset="0"/>
              </a:rPr>
              <a:t> market conditions and inflation</a:t>
            </a:r>
          </a:p>
        </p:txBody>
      </p:sp>
      <p:sp>
        <p:nvSpPr>
          <p:cNvPr id="6" name="Rectangle 5">
            <a:extLst>
              <a:ext uri="{FF2B5EF4-FFF2-40B4-BE49-F238E27FC236}">
                <a16:creationId xmlns:a16="http://schemas.microsoft.com/office/drawing/2014/main" id="{91F13456-0068-61B8-C6E6-1C957AEBE2D4}"/>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3419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EE0D3-F760-0C09-D745-210EA9E03275}"/>
              </a:ext>
            </a:extLst>
          </p:cNvPr>
          <p:cNvSpPr>
            <a:spLocks noGrp="1"/>
          </p:cNvSpPr>
          <p:nvPr>
            <p:ph type="title"/>
          </p:nvPr>
        </p:nvSpPr>
        <p:spPr>
          <a:xfrm>
            <a:off x="838200" y="681037"/>
            <a:ext cx="10515600" cy="429306"/>
          </a:xfrm>
        </p:spPr>
        <p:txBody>
          <a:bodyPr>
            <a:noAutofit/>
          </a:bodyPr>
          <a:lstStyle/>
          <a:p>
            <a:r>
              <a:rPr lang="en-US" sz="2800" b="1" dirty="0">
                <a:solidFill>
                  <a:schemeClr val="accent6">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A7F81942-D346-0DC5-6DB3-A886EFEE0FA2}"/>
              </a:ext>
            </a:extLst>
          </p:cNvPr>
          <p:cNvSpPr>
            <a:spLocks noGrp="1"/>
          </p:cNvSpPr>
          <p:nvPr>
            <p:ph idx="1"/>
          </p:nvPr>
        </p:nvSpPr>
        <p:spPr>
          <a:xfrm>
            <a:off x="838200" y="1295400"/>
            <a:ext cx="10515600" cy="4881563"/>
          </a:xfrm>
        </p:spPr>
        <p:txBody>
          <a:bodyPr>
            <a:normAutofit/>
          </a:bodyPr>
          <a:lstStyle/>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Nigeria has experienced significant fluctuations in inflation over the past three decades</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Despite various monetary and fiscal policies inflation has remained a persistent economic challenge </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 However ,the relative relationship between these variables and inflation can be difficult to understand when looking at individual figures separately</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Persistent inflation reduces household purchasing power, increases the costs for businesses. Understanding the factors associated with inflation is therefore important for policymakers, businesses and households </a:t>
            </a:r>
          </a:p>
          <a:p>
            <a:pPr marL="0" indent="0">
              <a:buNone/>
            </a:pPr>
            <a:r>
              <a:rPr lang="en-US" b="1" dirty="0">
                <a:solidFill>
                  <a:schemeClr val="accent6">
                    <a:lumMod val="75000"/>
                  </a:schemeClr>
                </a:solidFill>
                <a:latin typeface="Times New Roman" panose="02020603050405020304" pitchFamily="18" charset="0"/>
                <a:cs typeface="Times New Roman" panose="02020603050405020304" pitchFamily="18" charset="0"/>
              </a:rPr>
              <a:t>Key problem</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There is  a need to </a:t>
            </a:r>
            <a:r>
              <a:rPr lang="en-US" sz="1800" dirty="0" err="1">
                <a:solidFill>
                  <a:schemeClr val="accent6">
                    <a:lumMod val="75000"/>
                  </a:schemeClr>
                </a:solidFill>
                <a:latin typeface="Times New Roman" panose="02020603050405020304" pitchFamily="18" charset="0"/>
                <a:cs typeface="Times New Roman" panose="02020603050405020304" pitchFamily="18" charset="0"/>
              </a:rPr>
              <a:t>analyse</a:t>
            </a:r>
            <a:r>
              <a:rPr lang="en-US" sz="1800" dirty="0">
                <a:solidFill>
                  <a:schemeClr val="accent6">
                    <a:lumMod val="75000"/>
                  </a:schemeClr>
                </a:solidFill>
                <a:latin typeface="Times New Roman" panose="02020603050405020304" pitchFamily="18" charset="0"/>
                <a:cs typeface="Times New Roman" panose="02020603050405020304" pitchFamily="18" charset="0"/>
              </a:rPr>
              <a:t> historical macroeconomic data together to identify patterns and relationships that can provide a clearer understanding of Nigeria’ inflation dynamics</a:t>
            </a:r>
          </a:p>
          <a:p>
            <a:pPr marL="0" indent="0">
              <a:buNone/>
            </a:pPr>
            <a:r>
              <a:rPr lang="en-US" sz="1800" dirty="0">
                <a:latin typeface="Times New Roman" panose="02020603050405020304" pitchFamily="18" charset="0"/>
                <a:cs typeface="Times New Roman" panose="02020603050405020304" pitchFamily="18" charset="0"/>
              </a:rPr>
              <a:t>"</a:t>
            </a:r>
            <a:r>
              <a:rPr lang="en-US" sz="1800" dirty="0">
                <a:solidFill>
                  <a:schemeClr val="accent6">
                    <a:lumMod val="75000"/>
                  </a:schemeClr>
                </a:solidFill>
                <a:latin typeface="Times New Roman" panose="02020603050405020304" pitchFamily="18" charset="0"/>
                <a:cs typeface="Times New Roman" panose="02020603050405020304" pitchFamily="18" charset="0"/>
              </a:rPr>
              <a:t>The main problem is that inflation in Nigeria has been changing significantly over the years and it affects people's everyday lives. We therefore want to understand whether factors such as money supply, exchange rate, tax revenue and unemployment are related to these changes. This analysis uses historical data to identify those patterns."</a:t>
            </a:r>
          </a:p>
          <a:p>
            <a:pPr marL="0" indent="0">
              <a:buNone/>
            </a:pPr>
            <a:endParaRPr lang="en-US" sz="1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952A926-056C-D0AC-F652-ABBE031778CA}"/>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8797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5620A-946D-002C-7E62-949DDF6029A3}"/>
              </a:ext>
            </a:extLst>
          </p:cNvPr>
          <p:cNvSpPr>
            <a:spLocks noGrp="1"/>
          </p:cNvSpPr>
          <p:nvPr>
            <p:ph type="title"/>
          </p:nvPr>
        </p:nvSpPr>
        <p:spPr>
          <a:xfrm>
            <a:off x="838200" y="1"/>
            <a:ext cx="10515600" cy="1690688"/>
          </a:xfrm>
        </p:spPr>
        <p:txBody>
          <a:bodyPr/>
          <a:lstStyle/>
          <a:p>
            <a:r>
              <a:rPr lang="en-US" b="1" dirty="0">
                <a:solidFill>
                  <a:schemeClr val="accent6">
                    <a:lumMod val="75000"/>
                  </a:schemeClr>
                </a:solidFill>
                <a:latin typeface="Times New Roman" panose="02020603050405020304" pitchFamily="18" charset="0"/>
                <a:cs typeface="Times New Roman" panose="02020603050405020304" pitchFamily="18" charset="0"/>
              </a:rPr>
              <a:t>Aim and Objectives of the study</a:t>
            </a:r>
          </a:p>
        </p:txBody>
      </p:sp>
      <p:sp>
        <p:nvSpPr>
          <p:cNvPr id="3" name="Content Placeholder 2">
            <a:extLst>
              <a:ext uri="{FF2B5EF4-FFF2-40B4-BE49-F238E27FC236}">
                <a16:creationId xmlns:a16="http://schemas.microsoft.com/office/drawing/2014/main" id="{1E0BEB3C-AD19-141B-49B1-48D67D61339F}"/>
              </a:ext>
            </a:extLst>
          </p:cNvPr>
          <p:cNvSpPr>
            <a:spLocks noGrp="1"/>
          </p:cNvSpPr>
          <p:nvPr>
            <p:ph idx="1"/>
          </p:nvPr>
        </p:nvSpPr>
        <p:spPr>
          <a:xfrm>
            <a:off x="838200" y="1371600"/>
            <a:ext cx="10515600" cy="5121275"/>
          </a:xfrm>
        </p:spPr>
        <p:txBody>
          <a:bodyPr>
            <a:normAutofit lnSpcReduction="10000"/>
          </a:bodyPr>
          <a:lstStyle/>
          <a:p>
            <a:pPr marL="0" indent="0">
              <a:buNone/>
            </a:pPr>
            <a:r>
              <a:rPr lang="en-US" dirty="0">
                <a:solidFill>
                  <a:schemeClr val="accent6">
                    <a:lumMod val="75000"/>
                  </a:schemeClr>
                </a:solidFill>
                <a:latin typeface="Times New Roman" panose="02020603050405020304" pitchFamily="18" charset="0"/>
                <a:cs typeface="Times New Roman" panose="02020603050405020304" pitchFamily="18" charset="0"/>
              </a:rPr>
              <a:t>Aim</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The main aim of this study is to examine the major macroeconomics variables associated with inflation in Nigeria between 1991 and 2024 using data analytics techniques</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The study seeks to transform historical economic data into meaningful insights that can support economic interpretation and decision making</a:t>
            </a:r>
          </a:p>
          <a:p>
            <a:pPr marL="0" indent="0">
              <a:buNone/>
            </a:pPr>
            <a:endParaRPr lang="en-US" sz="1800" dirty="0">
              <a:solidFill>
                <a:schemeClr val="accent6">
                  <a:lumMod val="75000"/>
                </a:schemeClr>
              </a:solidFill>
              <a:latin typeface="Times New Roman" panose="02020603050405020304" pitchFamily="18" charset="0"/>
              <a:cs typeface="Times New Roman" panose="02020603050405020304" pitchFamily="18" charset="0"/>
            </a:endParaRPr>
          </a:p>
          <a:p>
            <a:pPr marL="0" indent="0">
              <a:buNone/>
            </a:pPr>
            <a:r>
              <a:rPr lang="en-US" b="1" dirty="0">
                <a:solidFill>
                  <a:schemeClr val="accent6">
                    <a:lumMod val="75000"/>
                  </a:schemeClr>
                </a:solidFill>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Examine the trend of inflation in Nigeria from 1991-2024</a:t>
            </a:r>
          </a:p>
          <a:p>
            <a:pPr marL="514350" indent="-514350">
              <a:buFont typeface="+mj-lt"/>
              <a:buAutoNum type="arabicPeriod"/>
            </a:pPr>
            <a:r>
              <a:rPr lang="en-US" sz="1800" dirty="0" err="1">
                <a:solidFill>
                  <a:schemeClr val="accent6">
                    <a:lumMod val="75000"/>
                  </a:schemeClr>
                </a:solidFill>
                <a:latin typeface="Times New Roman" panose="02020603050405020304" pitchFamily="18" charset="0"/>
                <a:cs typeface="Times New Roman" panose="02020603050405020304" pitchFamily="18" charset="0"/>
              </a:rPr>
              <a:t>Analyse</a:t>
            </a:r>
            <a:r>
              <a:rPr lang="en-US" sz="1800" dirty="0">
                <a:solidFill>
                  <a:schemeClr val="accent6">
                    <a:lumMod val="75000"/>
                  </a:schemeClr>
                </a:solidFill>
                <a:latin typeface="Times New Roman" panose="02020603050405020304" pitchFamily="18" charset="0"/>
                <a:cs typeface="Times New Roman" panose="02020603050405020304" pitchFamily="18" charset="0"/>
              </a:rPr>
              <a:t> the relationship between money supply and inflation</a:t>
            </a:r>
          </a:p>
          <a:p>
            <a:pPr marL="514350" indent="-51435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Examine the relationship between exchange rate and inflation</a:t>
            </a:r>
          </a:p>
          <a:p>
            <a:pPr marL="514350" indent="-514350">
              <a:buFont typeface="+mj-lt"/>
              <a:buAutoNum type="arabicPeriod"/>
            </a:pPr>
            <a:r>
              <a:rPr lang="en-US" sz="1800" dirty="0" err="1">
                <a:solidFill>
                  <a:schemeClr val="accent6">
                    <a:lumMod val="75000"/>
                  </a:schemeClr>
                </a:solidFill>
                <a:latin typeface="Times New Roman" panose="02020603050405020304" pitchFamily="18" charset="0"/>
                <a:cs typeface="Times New Roman" panose="02020603050405020304" pitchFamily="18" charset="0"/>
              </a:rPr>
              <a:t>Analyse</a:t>
            </a:r>
            <a:r>
              <a:rPr lang="en-US" sz="1800" dirty="0">
                <a:solidFill>
                  <a:schemeClr val="accent6">
                    <a:lumMod val="75000"/>
                  </a:schemeClr>
                </a:solidFill>
                <a:latin typeface="Times New Roman" panose="02020603050405020304" pitchFamily="18" charset="0"/>
                <a:cs typeface="Times New Roman" panose="02020603050405020304" pitchFamily="18" charset="0"/>
              </a:rPr>
              <a:t> the relationship between tax revenue and inflation</a:t>
            </a:r>
          </a:p>
          <a:p>
            <a:pPr marL="514350" indent="-51435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Assess the relationship between unemployment and inflation</a:t>
            </a:r>
          </a:p>
          <a:p>
            <a:pPr marL="514350" indent="-51435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Develop an inflation forecast based on historical patterns</a:t>
            </a:r>
          </a:p>
          <a:p>
            <a:pPr marL="514350" indent="-51435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Present the findings through an interactive Power  Bi dashboard</a:t>
            </a:r>
          </a:p>
          <a:p>
            <a:pPr marL="514350" indent="-514350">
              <a:buFont typeface="+mj-lt"/>
              <a:buAutoNum type="arabicPeriod"/>
            </a:pPr>
            <a:endParaRPr lang="en-US" sz="1800" dirty="0">
              <a:solidFill>
                <a:schemeClr val="accent6">
                  <a:lumMod val="75000"/>
                </a:schemeClr>
              </a:solidFill>
              <a:latin typeface="Times New Roman" panose="02020603050405020304" pitchFamily="18" charset="0"/>
              <a:cs typeface="Times New Roman" panose="02020603050405020304" pitchFamily="18" charset="0"/>
            </a:endParaRPr>
          </a:p>
          <a:p>
            <a:pPr marL="0" indent="0">
              <a:buNone/>
            </a:pPr>
            <a:endParaRPr lang="en-US" sz="44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693DF61-7C01-9934-B60D-1BECC9D20447}"/>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2741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9055D-DB44-93B0-DFB0-6D558633BD15}"/>
              </a:ext>
            </a:extLst>
          </p:cNvPr>
          <p:cNvSpPr>
            <a:spLocks noGrp="1"/>
          </p:cNvSpPr>
          <p:nvPr>
            <p:ph type="title"/>
          </p:nvPr>
        </p:nvSpPr>
        <p:spPr>
          <a:xfrm>
            <a:off x="838200" y="174171"/>
            <a:ext cx="10515600" cy="1516517"/>
          </a:xfrm>
        </p:spPr>
        <p:txBody>
          <a:bodyPr/>
          <a:lstStyle/>
          <a:p>
            <a:r>
              <a:rPr lang="en-US" b="1" dirty="0">
                <a:solidFill>
                  <a:schemeClr val="accent6">
                    <a:lumMod val="75000"/>
                  </a:schemeClr>
                </a:solidFill>
                <a:latin typeface="Times New Roman" panose="02020603050405020304" pitchFamily="18" charset="0"/>
                <a:cs typeface="Times New Roman" panose="02020603050405020304" pitchFamily="18" charset="0"/>
              </a:rPr>
              <a:t>Research Question</a:t>
            </a:r>
          </a:p>
        </p:txBody>
      </p:sp>
      <p:sp>
        <p:nvSpPr>
          <p:cNvPr id="3" name="Content Placeholder 2">
            <a:extLst>
              <a:ext uri="{FF2B5EF4-FFF2-40B4-BE49-F238E27FC236}">
                <a16:creationId xmlns:a16="http://schemas.microsoft.com/office/drawing/2014/main" id="{D7FA698E-661F-1F5C-3A16-6AAAD1EE0F49}"/>
              </a:ext>
            </a:extLst>
          </p:cNvPr>
          <p:cNvSpPr>
            <a:spLocks noGrp="1"/>
          </p:cNvSpPr>
          <p:nvPr>
            <p:ph idx="1"/>
          </p:nvPr>
        </p:nvSpPr>
        <p:spPr>
          <a:xfrm>
            <a:off x="838200" y="1415143"/>
            <a:ext cx="10515600" cy="4761820"/>
          </a:xfrm>
        </p:spPr>
        <p:txBody>
          <a:bodyPr/>
          <a:lstStyle/>
          <a:p>
            <a:pPr marL="0" indent="0">
              <a:buNone/>
            </a:pPr>
            <a:r>
              <a:rPr lang="en-US" b="1" dirty="0">
                <a:solidFill>
                  <a:schemeClr val="accent6">
                    <a:lumMod val="75000"/>
                  </a:schemeClr>
                </a:solidFill>
                <a:latin typeface="Times New Roman" panose="02020603050405020304" pitchFamily="18" charset="0"/>
                <a:cs typeface="Times New Roman" panose="02020603050405020304" pitchFamily="18" charset="0"/>
              </a:rPr>
              <a:t>Main 	Question</a:t>
            </a:r>
          </a:p>
          <a:p>
            <a:pPr marL="0" indent="0">
              <a:buNone/>
            </a:pPr>
            <a:r>
              <a:rPr lang="en-US" sz="1800" dirty="0">
                <a:solidFill>
                  <a:schemeClr val="accent6">
                    <a:lumMod val="75000"/>
                  </a:schemeClr>
                </a:solidFill>
                <a:latin typeface="Times New Roman" panose="02020603050405020304" pitchFamily="18" charset="0"/>
                <a:cs typeface="Times New Roman" panose="02020603050405020304" pitchFamily="18" charset="0"/>
              </a:rPr>
              <a:t>What are the relationship between money supply ,exchange rate ,tax revenue and unemployment and inflation in Nigeria from 1991 to 2024</a:t>
            </a:r>
          </a:p>
          <a:p>
            <a:pPr marL="0" indent="0">
              <a:buNone/>
            </a:pPr>
            <a:r>
              <a:rPr lang="en-US" b="1" dirty="0">
                <a:solidFill>
                  <a:schemeClr val="accent6">
                    <a:lumMod val="75000"/>
                  </a:schemeClr>
                </a:solidFill>
                <a:latin typeface="Times New Roman" panose="02020603050405020304" pitchFamily="18" charset="0"/>
                <a:cs typeface="Times New Roman" panose="02020603050405020304" pitchFamily="18" charset="0"/>
              </a:rPr>
              <a:t>Supporting questions </a:t>
            </a:r>
          </a:p>
          <a:p>
            <a:pPr marL="342900" indent="-34290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How has inflation changed between 1991 and 2024</a:t>
            </a:r>
          </a:p>
          <a:p>
            <a:pPr marL="342900" indent="-34290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How has money supply evolved over the period?</a:t>
            </a:r>
          </a:p>
          <a:p>
            <a:pPr marL="342900" indent="-34290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Is exchange rate depreciation associated with higher inflation?</a:t>
            </a:r>
          </a:p>
          <a:p>
            <a:pPr marL="342900" indent="-34290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What relationship exists between tax revenue and inflation</a:t>
            </a:r>
          </a:p>
          <a:p>
            <a:pPr marL="342900" indent="-34290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Does unemployment show a strong or weak relationship with inflation</a:t>
            </a:r>
          </a:p>
          <a:p>
            <a:pPr marL="342900" indent="-342900">
              <a:buFont typeface="+mj-lt"/>
              <a:buAutoNum type="arabicPeriod"/>
            </a:pPr>
            <a:r>
              <a:rPr lang="en-US" sz="1800" dirty="0">
                <a:solidFill>
                  <a:schemeClr val="accent6">
                    <a:lumMod val="75000"/>
                  </a:schemeClr>
                </a:solidFill>
                <a:latin typeface="Times New Roman" panose="02020603050405020304" pitchFamily="18" charset="0"/>
                <a:cs typeface="Times New Roman" panose="02020603050405020304" pitchFamily="18" charset="0"/>
              </a:rPr>
              <a:t>What does the historical trend suggest about future inflation</a:t>
            </a:r>
          </a:p>
        </p:txBody>
      </p:sp>
      <p:sp>
        <p:nvSpPr>
          <p:cNvPr id="5" name="Rectangle 4">
            <a:extLst>
              <a:ext uri="{FF2B5EF4-FFF2-40B4-BE49-F238E27FC236}">
                <a16:creationId xmlns:a16="http://schemas.microsoft.com/office/drawing/2014/main" id="{33F12882-9CFE-FD77-7C63-C08B8FE2B2C5}"/>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3484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FA0DD03-EAA1-2589-C3BC-48E84DD216C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978" t="22048" r="33084" b="16409"/>
          <a:stretch>
            <a:fillRect/>
          </a:stretch>
        </p:blipFill>
        <p:spPr>
          <a:xfrm>
            <a:off x="130629" y="647612"/>
            <a:ext cx="11212285" cy="6210387"/>
          </a:xfrm>
          <a:prstGeom prst="rect">
            <a:avLst/>
          </a:prstGeom>
        </p:spPr>
      </p:pic>
      <p:sp>
        <p:nvSpPr>
          <p:cNvPr id="6" name="Rectangle 5">
            <a:extLst>
              <a:ext uri="{FF2B5EF4-FFF2-40B4-BE49-F238E27FC236}">
                <a16:creationId xmlns:a16="http://schemas.microsoft.com/office/drawing/2014/main" id="{C7C12A6E-4112-3B2B-F55F-1A6E5ECB084D}"/>
              </a:ext>
            </a:extLst>
          </p:cNvPr>
          <p:cNvSpPr/>
          <p:nvPr/>
        </p:nvSpPr>
        <p:spPr>
          <a:xfrm>
            <a:off x="0" y="0"/>
            <a:ext cx="12192000" cy="54428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5429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78C3C-F14F-BA93-B3DE-58C488EB44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F329EF9-C7DE-FA1C-748E-56276436E1D3}"/>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7674F7B-F296-F31E-686F-EF9FE0752070}"/>
              </a:ext>
            </a:extLst>
          </p:cNvPr>
          <p:cNvPicPr>
            <a:picLocks noChangeAspect="1"/>
          </p:cNvPicPr>
          <p:nvPr/>
        </p:nvPicPr>
        <p:blipFill>
          <a:blip r:embed="rId2"/>
          <a:srcRect l="11665" t="23941" r="44306" b="24790"/>
          <a:stretch>
            <a:fillRect/>
          </a:stretch>
        </p:blipFill>
        <p:spPr>
          <a:xfrm>
            <a:off x="89210" y="675710"/>
            <a:ext cx="12102790" cy="6182289"/>
          </a:xfrm>
          <a:prstGeom prst="rect">
            <a:avLst/>
          </a:prstGeom>
        </p:spPr>
      </p:pic>
    </p:spTree>
    <p:extLst>
      <p:ext uri="{BB962C8B-B14F-4D97-AF65-F5344CB8AC3E}">
        <p14:creationId xmlns:p14="http://schemas.microsoft.com/office/powerpoint/2010/main" val="3139471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AE559F-D07B-5D9B-406F-697BBC9607AD}"/>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7D5ACC1-84AE-E336-6892-356D2F1FCC0A}"/>
              </a:ext>
            </a:extLst>
          </p:cNvPr>
          <p:cNvPicPr>
            <a:picLocks noChangeAspect="1"/>
          </p:cNvPicPr>
          <p:nvPr/>
        </p:nvPicPr>
        <p:blipFill>
          <a:blip r:embed="rId2"/>
          <a:srcRect l="19109" t="25091" r="44553" b="17925"/>
          <a:stretch>
            <a:fillRect/>
          </a:stretch>
        </p:blipFill>
        <p:spPr>
          <a:xfrm>
            <a:off x="119742" y="554390"/>
            <a:ext cx="12072257" cy="6303610"/>
          </a:xfrm>
          <a:prstGeom prst="rect">
            <a:avLst/>
          </a:prstGeom>
        </p:spPr>
      </p:pic>
    </p:spTree>
    <p:extLst>
      <p:ext uri="{BB962C8B-B14F-4D97-AF65-F5344CB8AC3E}">
        <p14:creationId xmlns:p14="http://schemas.microsoft.com/office/powerpoint/2010/main" val="65148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D1346-A5FC-745C-78AE-4925D98264A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CB13BB6-9EBA-E28D-D260-B5E1086DCFF6}"/>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87C9443-DD56-6910-503B-00375AA56593}"/>
              </a:ext>
            </a:extLst>
          </p:cNvPr>
          <p:cNvPicPr>
            <a:picLocks noChangeAspect="1"/>
          </p:cNvPicPr>
          <p:nvPr/>
        </p:nvPicPr>
        <p:blipFill>
          <a:blip r:embed="rId2"/>
          <a:srcRect l="12857" t="24603" r="39822" b="17619"/>
          <a:stretch>
            <a:fillRect/>
          </a:stretch>
        </p:blipFill>
        <p:spPr>
          <a:xfrm>
            <a:off x="-10888" y="554389"/>
            <a:ext cx="11919859" cy="6303611"/>
          </a:xfrm>
          <a:prstGeom prst="rect">
            <a:avLst/>
          </a:prstGeom>
        </p:spPr>
      </p:pic>
    </p:spTree>
    <p:extLst>
      <p:ext uri="{BB962C8B-B14F-4D97-AF65-F5344CB8AC3E}">
        <p14:creationId xmlns:p14="http://schemas.microsoft.com/office/powerpoint/2010/main" val="3870831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550E3-479E-37EE-71A1-AB085ED0648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4AF20CC-FD93-7062-AF0E-00BAFB0538E0}"/>
              </a:ext>
            </a:extLst>
          </p:cNvPr>
          <p:cNvSpPr/>
          <p:nvPr/>
        </p:nvSpPr>
        <p:spPr>
          <a:xfrm>
            <a:off x="1" y="-33439"/>
            <a:ext cx="12192000" cy="587829"/>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6EFD810-502A-60ED-00E1-51491808BFDA}"/>
              </a:ext>
            </a:extLst>
          </p:cNvPr>
          <p:cNvPicPr>
            <a:picLocks noChangeAspect="1"/>
          </p:cNvPicPr>
          <p:nvPr/>
        </p:nvPicPr>
        <p:blipFill>
          <a:blip r:embed="rId2"/>
          <a:srcRect l="11697" t="28889" r="41696" b="18253"/>
          <a:stretch>
            <a:fillRect/>
          </a:stretch>
        </p:blipFill>
        <p:spPr>
          <a:xfrm>
            <a:off x="0" y="557025"/>
            <a:ext cx="12192000" cy="6300976"/>
          </a:xfrm>
          <a:prstGeom prst="rect">
            <a:avLst/>
          </a:prstGeom>
        </p:spPr>
      </p:pic>
    </p:spTree>
    <p:extLst>
      <p:ext uri="{BB962C8B-B14F-4D97-AF65-F5344CB8AC3E}">
        <p14:creationId xmlns:p14="http://schemas.microsoft.com/office/powerpoint/2010/main" val="4216205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13EDF0-7926-D8C2-4BF3-E3A320A6415A}"/>
              </a:ext>
            </a:extLst>
          </p:cNvPr>
          <p:cNvPicPr>
            <a:picLocks noChangeAspect="1"/>
          </p:cNvPicPr>
          <p:nvPr/>
        </p:nvPicPr>
        <p:blipFill>
          <a:blip r:embed="rId3"/>
          <a:srcRect l="10001" t="22222" r="37767" b="14920"/>
          <a:stretch>
            <a:fillRect/>
          </a:stretch>
        </p:blipFill>
        <p:spPr>
          <a:xfrm>
            <a:off x="0" y="-20601"/>
            <a:ext cx="12192000" cy="7009229"/>
          </a:xfrm>
          <a:prstGeom prst="rect">
            <a:avLst/>
          </a:prstGeom>
        </p:spPr>
      </p:pic>
    </p:spTree>
    <p:extLst>
      <p:ext uri="{BB962C8B-B14F-4D97-AF65-F5344CB8AC3E}">
        <p14:creationId xmlns:p14="http://schemas.microsoft.com/office/powerpoint/2010/main" val="211777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D67CEF-3AB1-3D58-C7FB-6141F97B474C}"/>
              </a:ext>
            </a:extLst>
          </p:cNvPr>
          <p:cNvSpPr>
            <a:spLocks noGrp="1"/>
          </p:cNvSpPr>
          <p:nvPr>
            <p:ph idx="1"/>
          </p:nvPr>
        </p:nvSpPr>
        <p:spPr>
          <a:xfrm>
            <a:off x="707571" y="947058"/>
            <a:ext cx="10646229" cy="5910942"/>
          </a:xfrm>
        </p:spPr>
        <p:txBody>
          <a:bodyPr>
            <a:normAutofit/>
          </a:bodyPr>
          <a:lstStyle/>
          <a:p>
            <a:pPr marL="0" indent="0">
              <a:buNone/>
            </a:pPr>
            <a:endParaRPr lang="en-US" sz="1800" b="1" dirty="0">
              <a:solidFill>
                <a:schemeClr val="accent6">
                  <a:lumMod val="75000"/>
                </a:schemeClr>
              </a:solidFill>
              <a:latin typeface="Times New Roman" panose="02020603050405020304" pitchFamily="18" charset="0"/>
              <a:cs typeface="Times New Roman" panose="02020603050405020304" pitchFamily="18" charset="0"/>
            </a:endParaRPr>
          </a:p>
          <a:p>
            <a:r>
              <a:rPr lang="en-US" sz="1800" b="1" dirty="0">
                <a:solidFill>
                  <a:schemeClr val="accent6">
                    <a:lumMod val="75000"/>
                  </a:schemeClr>
                </a:solidFill>
                <a:latin typeface="Times New Roman" panose="02020603050405020304" pitchFamily="18" charset="0"/>
                <a:cs typeface="Times New Roman" panose="02020603050405020304" pitchFamily="18" charset="0"/>
              </a:rPr>
              <a:t>Control rapid increases in money supply</a:t>
            </a:r>
            <a:br>
              <a:rPr lang="en-US" sz="1800" dirty="0">
                <a:solidFill>
                  <a:schemeClr val="accent6">
                    <a:lumMod val="75000"/>
                  </a:schemeClr>
                </a:solidFill>
                <a:latin typeface="Times New Roman" panose="02020603050405020304" pitchFamily="18" charset="0"/>
                <a:cs typeface="Times New Roman" panose="02020603050405020304" pitchFamily="18" charset="0"/>
              </a:rPr>
            </a:br>
            <a:r>
              <a:rPr lang="en-US" sz="1800" dirty="0">
                <a:solidFill>
                  <a:schemeClr val="accent6">
                    <a:lumMod val="75000"/>
                  </a:schemeClr>
                </a:solidFill>
                <a:latin typeface="Times New Roman" panose="02020603050405020304" pitchFamily="18" charset="0"/>
                <a:cs typeface="Times New Roman" panose="02020603050405020304" pitchFamily="18" charset="0"/>
              </a:rPr>
              <a:t>Since inflation tends to rise when money supply increases significantly, the government should carefully manage the amount of money circulating in the economy. </a:t>
            </a:r>
          </a:p>
          <a:p>
            <a:r>
              <a:rPr lang="en-US" sz="1800" b="1" dirty="0">
                <a:solidFill>
                  <a:schemeClr val="accent6">
                    <a:lumMod val="75000"/>
                  </a:schemeClr>
                </a:solidFill>
                <a:latin typeface="Times New Roman" panose="02020603050405020304" pitchFamily="18" charset="0"/>
                <a:cs typeface="Times New Roman" panose="02020603050405020304" pitchFamily="18" charset="0"/>
              </a:rPr>
              <a:t>Reduce excessive exchange-rate changes</a:t>
            </a:r>
            <a:br>
              <a:rPr lang="en-US" sz="1800" dirty="0">
                <a:solidFill>
                  <a:schemeClr val="accent6">
                    <a:lumMod val="75000"/>
                  </a:schemeClr>
                </a:solidFill>
                <a:latin typeface="Times New Roman" panose="02020603050405020304" pitchFamily="18" charset="0"/>
                <a:cs typeface="Times New Roman" panose="02020603050405020304" pitchFamily="18" charset="0"/>
              </a:rPr>
            </a:br>
            <a:r>
              <a:rPr lang="en-US" sz="1800" dirty="0">
                <a:solidFill>
                  <a:schemeClr val="accent6">
                    <a:lumMod val="75000"/>
                  </a:schemeClr>
                </a:solidFill>
                <a:latin typeface="Times New Roman" panose="02020603050405020304" pitchFamily="18" charset="0"/>
                <a:cs typeface="Times New Roman" panose="02020603050405020304" pitchFamily="18" charset="0"/>
              </a:rPr>
              <a:t>The analysis shows that changes in the exchange rate are closely associated with inflation. Keeping the naira more stable can help reduce increases in the prices of imported goods. </a:t>
            </a:r>
          </a:p>
          <a:p>
            <a:r>
              <a:rPr lang="en-US" sz="1800" b="1" dirty="0">
                <a:solidFill>
                  <a:schemeClr val="accent6">
                    <a:lumMod val="75000"/>
                  </a:schemeClr>
                </a:solidFill>
                <a:latin typeface="Times New Roman" panose="02020603050405020304" pitchFamily="18" charset="0"/>
                <a:cs typeface="Times New Roman" panose="02020603050405020304" pitchFamily="18" charset="0"/>
              </a:rPr>
              <a:t>Produce more goods locally</a:t>
            </a:r>
            <a:br>
              <a:rPr lang="en-US" sz="1800" dirty="0">
                <a:solidFill>
                  <a:schemeClr val="accent6">
                    <a:lumMod val="75000"/>
                  </a:schemeClr>
                </a:solidFill>
                <a:latin typeface="Times New Roman" panose="02020603050405020304" pitchFamily="18" charset="0"/>
                <a:cs typeface="Times New Roman" panose="02020603050405020304" pitchFamily="18" charset="0"/>
              </a:rPr>
            </a:br>
            <a:r>
              <a:rPr lang="en-US" sz="1800" dirty="0">
                <a:solidFill>
                  <a:schemeClr val="accent6">
                    <a:lumMod val="75000"/>
                  </a:schemeClr>
                </a:solidFill>
                <a:latin typeface="Times New Roman" panose="02020603050405020304" pitchFamily="18" charset="0"/>
                <a:cs typeface="Times New Roman" panose="02020603050405020304" pitchFamily="18" charset="0"/>
              </a:rPr>
              <a:t>Nigeria should encourage local production of food, fuel, raw materials and other essential goods. This can reduce dependence on imports and help keep prices more stable. </a:t>
            </a:r>
          </a:p>
          <a:p>
            <a:r>
              <a:rPr lang="en-US" sz="1800" b="1" dirty="0">
                <a:solidFill>
                  <a:schemeClr val="accent6">
                    <a:lumMod val="75000"/>
                  </a:schemeClr>
                </a:solidFill>
                <a:latin typeface="Times New Roman" panose="02020603050405020304" pitchFamily="18" charset="0"/>
                <a:cs typeface="Times New Roman" panose="02020603050405020304" pitchFamily="18" charset="0"/>
              </a:rPr>
              <a:t>Support people affected by rising prices</a:t>
            </a:r>
            <a:br>
              <a:rPr lang="en-US" sz="1800" dirty="0">
                <a:solidFill>
                  <a:schemeClr val="accent6">
                    <a:lumMod val="75000"/>
                  </a:schemeClr>
                </a:solidFill>
                <a:latin typeface="Times New Roman" panose="02020603050405020304" pitchFamily="18" charset="0"/>
                <a:cs typeface="Times New Roman" panose="02020603050405020304" pitchFamily="18" charset="0"/>
              </a:rPr>
            </a:br>
            <a:r>
              <a:rPr lang="en-US" sz="1800" dirty="0">
                <a:solidFill>
                  <a:schemeClr val="accent6">
                    <a:lumMod val="75000"/>
                  </a:schemeClr>
                </a:solidFill>
                <a:latin typeface="Times New Roman" panose="02020603050405020304" pitchFamily="18" charset="0"/>
                <a:cs typeface="Times New Roman" panose="02020603050405020304" pitchFamily="18" charset="0"/>
              </a:rPr>
              <a:t>When inflation is high, people's money buys less. Government should provide targeted support for vulnerable households while working on the causes of inflation. </a:t>
            </a:r>
          </a:p>
          <a:p>
            <a:r>
              <a:rPr lang="en-US" sz="1800" b="1" dirty="0">
                <a:solidFill>
                  <a:schemeClr val="accent6">
                    <a:lumMod val="75000"/>
                  </a:schemeClr>
                </a:solidFill>
                <a:latin typeface="Times New Roman" panose="02020603050405020304" pitchFamily="18" charset="0"/>
                <a:cs typeface="Times New Roman" panose="02020603050405020304" pitchFamily="18" charset="0"/>
              </a:rPr>
              <a:t>Create more jobs</a:t>
            </a:r>
            <a:br>
              <a:rPr lang="en-US" sz="1800" dirty="0">
                <a:solidFill>
                  <a:schemeClr val="accent6">
                    <a:lumMod val="75000"/>
                  </a:schemeClr>
                </a:solidFill>
                <a:latin typeface="Times New Roman" panose="02020603050405020304" pitchFamily="18" charset="0"/>
                <a:cs typeface="Times New Roman" panose="02020603050405020304" pitchFamily="18" charset="0"/>
              </a:rPr>
            </a:br>
            <a:r>
              <a:rPr lang="en-US" sz="1800" dirty="0">
                <a:solidFill>
                  <a:schemeClr val="accent6">
                    <a:lumMod val="75000"/>
                  </a:schemeClr>
                </a:solidFill>
                <a:latin typeface="Times New Roman" panose="02020603050405020304" pitchFamily="18" charset="0"/>
                <a:cs typeface="Times New Roman" panose="02020603050405020304" pitchFamily="18" charset="0"/>
              </a:rPr>
              <a:t>Although unemployment showed a weaker relationship with inflation in this dataset, creating more jobs remains important for improving people's income and living standards. </a:t>
            </a:r>
          </a:p>
          <a:p>
            <a:r>
              <a:rPr lang="en-US" sz="1800" b="1" dirty="0">
                <a:solidFill>
                  <a:schemeClr val="accent6">
                    <a:lumMod val="75000"/>
                  </a:schemeClr>
                </a:solidFill>
                <a:latin typeface="Times New Roman" panose="02020603050405020304" pitchFamily="18" charset="0"/>
                <a:cs typeface="Times New Roman" panose="02020603050405020304" pitchFamily="18" charset="0"/>
              </a:rPr>
              <a:t>Keep monitoring inflation</a:t>
            </a:r>
            <a:br>
              <a:rPr lang="en-US" sz="1800" dirty="0">
                <a:solidFill>
                  <a:schemeClr val="accent6">
                    <a:lumMod val="75000"/>
                  </a:schemeClr>
                </a:solidFill>
                <a:latin typeface="Times New Roman" panose="02020603050405020304" pitchFamily="18" charset="0"/>
                <a:cs typeface="Times New Roman" panose="02020603050405020304" pitchFamily="18" charset="0"/>
              </a:rPr>
            </a:br>
            <a:r>
              <a:rPr lang="en-US" sz="1800" dirty="0">
                <a:solidFill>
                  <a:schemeClr val="accent6">
                    <a:lumMod val="75000"/>
                  </a:schemeClr>
                </a:solidFill>
                <a:latin typeface="Times New Roman" panose="02020603050405020304" pitchFamily="18" charset="0"/>
                <a:cs typeface="Times New Roman" panose="02020603050405020304" pitchFamily="18" charset="0"/>
              </a:rPr>
              <a:t>The analysis and forecast suggest that inflation can remain high. Government should regularly monitor economic indicators and take action when signs of increasing inflation appear.</a:t>
            </a:r>
          </a:p>
          <a:p>
            <a:pPr marL="0" indent="0">
              <a:buNone/>
            </a:pPr>
            <a:endParaRPr lang="en-US" sz="1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9A09AFF-BE16-D94F-2F28-68BFFF535350}"/>
              </a:ext>
            </a:extLst>
          </p:cNvPr>
          <p:cNvSpPr/>
          <p:nvPr/>
        </p:nvSpPr>
        <p:spPr>
          <a:xfrm>
            <a:off x="0" y="0"/>
            <a:ext cx="12192000" cy="68103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66E9CB-40C7-6C39-17C6-B1124EDA369B}"/>
              </a:ext>
            </a:extLst>
          </p:cNvPr>
          <p:cNvSpPr txBox="1"/>
          <p:nvPr/>
        </p:nvSpPr>
        <p:spPr>
          <a:xfrm>
            <a:off x="707571" y="789241"/>
            <a:ext cx="9078686" cy="523220"/>
          </a:xfrm>
          <a:prstGeom prst="rect">
            <a:avLst/>
          </a:prstGeom>
          <a:noFill/>
        </p:spPr>
        <p:txBody>
          <a:bodyPr wrap="square" rtlCol="0">
            <a:spAutoFit/>
          </a:bodyPr>
          <a:lstStyle/>
          <a:p>
            <a:r>
              <a:rPr lang="en-US" sz="2800" b="1" dirty="0">
                <a:solidFill>
                  <a:schemeClr val="accent6">
                    <a:lumMod val="75000"/>
                  </a:schemeClr>
                </a:solidFill>
                <a:latin typeface="Times New Roman" panose="02020603050405020304" pitchFamily="18" charset="0"/>
                <a:cs typeface="Times New Roman" panose="02020603050405020304" pitchFamily="18" charset="0"/>
              </a:rPr>
              <a:t>Recommendation</a:t>
            </a:r>
          </a:p>
        </p:txBody>
      </p:sp>
    </p:spTree>
    <p:extLst>
      <p:ext uri="{BB962C8B-B14F-4D97-AF65-F5344CB8AC3E}">
        <p14:creationId xmlns:p14="http://schemas.microsoft.com/office/powerpoint/2010/main" val="2450591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AFA02A-1C51-12EA-5C09-9DFCDA857091}"/>
              </a:ext>
            </a:extLst>
          </p:cNvPr>
          <p:cNvSpPr txBox="1"/>
          <p:nvPr/>
        </p:nvSpPr>
        <p:spPr>
          <a:xfrm>
            <a:off x="930728" y="1447800"/>
            <a:ext cx="10330544" cy="4524315"/>
          </a:xfrm>
          <a:prstGeom prst="rect">
            <a:avLst/>
          </a:prstGeom>
          <a:noFill/>
        </p:spPr>
        <p:txBody>
          <a:bodyPr wrap="square">
            <a:spAutoFit/>
          </a:bodyPr>
          <a:lstStyle/>
          <a:p>
            <a:pPr>
              <a:buNone/>
            </a:pPr>
            <a:r>
              <a:rPr lang="en-US" dirty="0">
                <a:solidFill>
                  <a:schemeClr val="accent6">
                    <a:lumMod val="75000"/>
                  </a:schemeClr>
                </a:solidFill>
                <a:latin typeface="Times New Roman" panose="02020603050405020304" pitchFamily="18" charset="0"/>
                <a:cs typeface="Times New Roman" panose="02020603050405020304" pitchFamily="18" charset="0"/>
              </a:rPr>
              <a:t>The analysis examined Nigeria's inflation trends between </a:t>
            </a:r>
            <a:r>
              <a:rPr lang="en-US" b="1" dirty="0">
                <a:solidFill>
                  <a:schemeClr val="accent6">
                    <a:lumMod val="75000"/>
                  </a:schemeClr>
                </a:solidFill>
                <a:latin typeface="Times New Roman" panose="02020603050405020304" pitchFamily="18" charset="0"/>
                <a:cs typeface="Times New Roman" panose="02020603050405020304" pitchFamily="18" charset="0"/>
              </a:rPr>
              <a:t>1991 and 2024</a:t>
            </a:r>
            <a:r>
              <a:rPr lang="en-US" dirty="0">
                <a:solidFill>
                  <a:schemeClr val="accent6">
                    <a:lumMod val="75000"/>
                  </a:schemeClr>
                </a:solidFill>
                <a:latin typeface="Times New Roman" panose="02020603050405020304" pitchFamily="18" charset="0"/>
                <a:cs typeface="Times New Roman" panose="02020603050405020304" pitchFamily="18" charset="0"/>
              </a:rPr>
              <a:t> using World Bank macroeconomic data</a:t>
            </a:r>
          </a:p>
          <a:p>
            <a:pPr>
              <a:buNone/>
            </a:pP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a:buNone/>
            </a:pPr>
            <a:r>
              <a:rPr lang="en-US" dirty="0">
                <a:solidFill>
                  <a:schemeClr val="accent6">
                    <a:lumMod val="75000"/>
                  </a:schemeClr>
                </a:solidFill>
                <a:latin typeface="Times New Roman" panose="02020603050405020304" pitchFamily="18" charset="0"/>
                <a:cs typeface="Times New Roman" panose="02020603050405020304" pitchFamily="18" charset="0"/>
              </a:rPr>
              <a:t>The findings show that inflation has experienced significant fluctuations over the period. </a:t>
            </a:r>
            <a:r>
              <a:rPr lang="en-US" b="1" dirty="0">
                <a:solidFill>
                  <a:schemeClr val="accent6">
                    <a:lumMod val="75000"/>
                  </a:schemeClr>
                </a:solidFill>
                <a:latin typeface="Times New Roman" panose="02020603050405020304" pitchFamily="18" charset="0"/>
                <a:cs typeface="Times New Roman" panose="02020603050405020304" pitchFamily="18" charset="0"/>
              </a:rPr>
              <a:t>Money supply and exchange-rate movements show noticeable relationships with inflation</a:t>
            </a:r>
            <a:r>
              <a:rPr lang="en-US" dirty="0">
                <a:solidFill>
                  <a:schemeClr val="accent6">
                    <a:lumMod val="75000"/>
                  </a:schemeClr>
                </a:solidFill>
                <a:latin typeface="Times New Roman" panose="02020603050405020304" pitchFamily="18" charset="0"/>
                <a:cs typeface="Times New Roman" panose="02020603050405020304" pitchFamily="18" charset="0"/>
              </a:rPr>
              <a:t>, while unemployment and tax revenue show relatively weaker relationships in the dataset.</a:t>
            </a:r>
          </a:p>
          <a:p>
            <a:pPr>
              <a:buNone/>
            </a:pP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a:buNone/>
            </a:pPr>
            <a:r>
              <a:rPr lang="en-US" dirty="0">
                <a:solidFill>
                  <a:schemeClr val="accent6">
                    <a:lumMod val="75000"/>
                  </a:schemeClr>
                </a:solidFill>
                <a:latin typeface="Times New Roman" panose="02020603050405020304" pitchFamily="18" charset="0"/>
                <a:cs typeface="Times New Roman" panose="02020603050405020304" pitchFamily="18" charset="0"/>
              </a:rPr>
              <a:t>The analysis also shows that inflation is not influenced by one factor alone. Economic conditions, monetary factors, exchange-rate movements and other factors can work together to influence changes in prices.</a:t>
            </a:r>
          </a:p>
          <a:p>
            <a:pPr>
              <a:buNone/>
            </a:pPr>
            <a:r>
              <a:rPr lang="en-US" dirty="0">
                <a:solidFill>
                  <a:schemeClr val="accent6">
                    <a:lumMod val="75000"/>
                  </a:schemeClr>
                </a:solidFill>
                <a:latin typeface="Times New Roman" panose="02020603050405020304" pitchFamily="18" charset="0"/>
                <a:cs typeface="Times New Roman" panose="02020603050405020304" pitchFamily="18" charset="0"/>
              </a:rPr>
              <a:t>The forecast suggests that inflation may remain elevated if existing patterns continue, although there is uncertainty around future outcomes.</a:t>
            </a:r>
          </a:p>
          <a:p>
            <a:pPr>
              <a:buNone/>
            </a:pP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a:buNone/>
            </a:pPr>
            <a:endParaRPr lang="en-US" b="1" dirty="0">
              <a:solidFill>
                <a:schemeClr val="accent6">
                  <a:lumMod val="75000"/>
                </a:schemeClr>
              </a:solidFill>
              <a:latin typeface="Times New Roman" panose="02020603050405020304" pitchFamily="18" charset="0"/>
              <a:cs typeface="Times New Roman" panose="02020603050405020304" pitchFamily="18" charset="0"/>
            </a:endParaRPr>
          </a:p>
          <a:p>
            <a:pPr>
              <a:buNone/>
            </a:pPr>
            <a:r>
              <a:rPr lang="en-US" b="1" dirty="0">
                <a:solidFill>
                  <a:schemeClr val="accent6">
                    <a:lumMod val="75000"/>
                  </a:schemeClr>
                </a:solidFill>
                <a:latin typeface="Times New Roman" panose="02020603050405020304" pitchFamily="18" charset="0"/>
                <a:cs typeface="Times New Roman" panose="02020603050405020304" pitchFamily="18" charset="0"/>
              </a:rPr>
              <a:t>Overall, the analysis shows that Nigeria's inflation problem is complex and cannot be explained by a single variable. Monitoring money supply and exchange-rate movements, while improving domestic production and addressing other economic challenges, can contribute to better inflation management.</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CF52CCA-1402-BD05-C2CB-F0811EAE405C}"/>
              </a:ext>
            </a:extLst>
          </p:cNvPr>
          <p:cNvSpPr/>
          <p:nvPr/>
        </p:nvSpPr>
        <p:spPr>
          <a:xfrm>
            <a:off x="0" y="1"/>
            <a:ext cx="12192000" cy="68103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C51404-21D1-9CE7-8DF7-DE4C50CAE292}"/>
              </a:ext>
            </a:extLst>
          </p:cNvPr>
          <p:cNvSpPr txBox="1"/>
          <p:nvPr/>
        </p:nvSpPr>
        <p:spPr>
          <a:xfrm>
            <a:off x="930728" y="885885"/>
            <a:ext cx="5480957" cy="954107"/>
          </a:xfrm>
          <a:prstGeom prst="rect">
            <a:avLst/>
          </a:prstGeom>
          <a:noFill/>
        </p:spPr>
        <p:txBody>
          <a:bodyPr wrap="square" rtlCol="0">
            <a:spAutoFit/>
          </a:bodyPr>
          <a:lstStyle/>
          <a:p>
            <a:r>
              <a:rPr lang="en-US" sz="2800" b="1" dirty="0">
                <a:solidFill>
                  <a:schemeClr val="accent6">
                    <a:lumMod val="75000"/>
                  </a:schemeClr>
                </a:solidFill>
              </a:rPr>
              <a:t>Conclusion</a:t>
            </a:r>
          </a:p>
          <a:p>
            <a:endParaRPr lang="en-US" sz="2800" b="1" dirty="0">
              <a:solidFill>
                <a:schemeClr val="accent6">
                  <a:lumMod val="75000"/>
                </a:schemeClr>
              </a:solidFill>
            </a:endParaRPr>
          </a:p>
        </p:txBody>
      </p:sp>
    </p:spTree>
    <p:extLst>
      <p:ext uri="{BB962C8B-B14F-4D97-AF65-F5344CB8AC3E}">
        <p14:creationId xmlns:p14="http://schemas.microsoft.com/office/powerpoint/2010/main" val="3767907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914</Words>
  <Application>Microsoft Office PowerPoint</Application>
  <PresentationFormat>Widescreen</PresentationFormat>
  <Paragraphs>73</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PowerPoint Presentation</vt:lpstr>
      <vt:lpstr>Background of the study</vt:lpstr>
      <vt:lpstr>About the Dataset</vt:lpstr>
      <vt:lpstr>Problem Statement</vt:lpstr>
      <vt:lpstr>Aim and Objectives of the study</vt:lpstr>
      <vt:lpstr>Research 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4</cp:revision>
  <dcterms:created xsi:type="dcterms:W3CDTF">2026-08-14T20:14:35Z</dcterms:created>
  <dcterms:modified xsi:type="dcterms:W3CDTF">2026-08-15T23:57:29Z</dcterms:modified>
</cp:coreProperties>
</file>