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9" r:id="rId1"/>
  </p:sldMasterIdLst>
  <p:notesMasterIdLst>
    <p:notesMasterId r:id="rId17"/>
  </p:notesMasterIdLst>
  <p:sldIdLst>
    <p:sldId id="257" r:id="rId2"/>
    <p:sldId id="263" r:id="rId3"/>
    <p:sldId id="264" r:id="rId4"/>
    <p:sldId id="266" r:id="rId5"/>
    <p:sldId id="260" r:id="rId6"/>
    <p:sldId id="261" r:id="rId7"/>
    <p:sldId id="262" r:id="rId8"/>
    <p:sldId id="273" r:id="rId9"/>
    <p:sldId id="272" r:id="rId10"/>
    <p:sldId id="275" r:id="rId11"/>
    <p:sldId id="274" r:id="rId12"/>
    <p:sldId id="276" r:id="rId13"/>
    <p:sldId id="270"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3D63"/>
    <a:srgbClr val="DB1B40"/>
    <a:srgbClr val="EE40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2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541119-A273-4AE2-89B8-1B3C6175DCD4}" type="datetimeFigureOut">
              <a:rPr lang="en-US" smtClean="0"/>
              <a:t>8/22/2026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4DA551-63D1-4DCF-8DDD-9E5D53E7FEB4}" type="slidenum">
              <a:rPr lang="en-US" smtClean="0"/>
              <a:t>‹#›</a:t>
            </a:fld>
            <a:endParaRPr lang="en-US"/>
          </a:p>
        </p:txBody>
      </p:sp>
    </p:spTree>
    <p:extLst>
      <p:ext uri="{BB962C8B-B14F-4D97-AF65-F5344CB8AC3E}">
        <p14:creationId xmlns:p14="http://schemas.microsoft.com/office/powerpoint/2010/main" val="2556988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647166-F9F5-47B6-BE99-772D2E06C912}" type="slidenum">
              <a:rPr lang="en-US" smtClean="0"/>
              <a:t>2</a:t>
            </a:fld>
            <a:endParaRPr lang="en-US"/>
          </a:p>
        </p:txBody>
      </p:sp>
    </p:spTree>
    <p:extLst>
      <p:ext uri="{BB962C8B-B14F-4D97-AF65-F5344CB8AC3E}">
        <p14:creationId xmlns:p14="http://schemas.microsoft.com/office/powerpoint/2010/main" val="4048517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4DA551-63D1-4DCF-8DDD-9E5D53E7FEB4}" type="slidenum">
              <a:rPr lang="en-US" smtClean="0"/>
              <a:t>14</a:t>
            </a:fld>
            <a:endParaRPr lang="en-US"/>
          </a:p>
        </p:txBody>
      </p:sp>
    </p:spTree>
    <p:extLst>
      <p:ext uri="{BB962C8B-B14F-4D97-AF65-F5344CB8AC3E}">
        <p14:creationId xmlns:p14="http://schemas.microsoft.com/office/powerpoint/2010/main" val="3280483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6BF06-5729-1DD9-9867-5249D2F636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FC2318-F81F-9ACC-9661-7D90E970D8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5B4842-91C8-B213-C4C2-A0723E4564B8}"/>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5" name="Footer Placeholder 4">
            <a:extLst>
              <a:ext uri="{FF2B5EF4-FFF2-40B4-BE49-F238E27FC236}">
                <a16:creationId xmlns:a16="http://schemas.microsoft.com/office/drawing/2014/main" id="{1B76E385-0DC4-CC42-48E5-469B9BDA3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244CBF-1715-35E6-CD5F-A100D13D0F00}"/>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298767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C28F-3520-43D8-D02A-D66F347C18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11DF3A-900E-A142-761F-44A521B477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D58768-DFAF-1DFD-A9D4-F0CDCDF7EA4A}"/>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5" name="Footer Placeholder 4">
            <a:extLst>
              <a:ext uri="{FF2B5EF4-FFF2-40B4-BE49-F238E27FC236}">
                <a16:creationId xmlns:a16="http://schemas.microsoft.com/office/drawing/2014/main" id="{CE308CB7-0D32-100E-4FA9-8E37B2A0C6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132DBA-7875-2B9E-5315-C2D6CD288222}"/>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008502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F036E-5428-398C-8468-CC47D32E19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2F7E9F-A8E4-5FAB-C85D-B47E7F9447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F43099-E678-1BB0-0446-D09F019F3390}"/>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5" name="Footer Placeholder 4">
            <a:extLst>
              <a:ext uri="{FF2B5EF4-FFF2-40B4-BE49-F238E27FC236}">
                <a16:creationId xmlns:a16="http://schemas.microsoft.com/office/drawing/2014/main" id="{A1AF4E67-F566-A9E4-9741-50B90D55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732A8A-3095-7E12-770B-420B7AA49B86}"/>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350609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69526-9C24-C200-EE76-273DC49A5B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EA0E1F-F320-3914-B550-F223398F54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E8E8D7-0689-44B9-E4B9-7E9460E967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FC4658-4849-92AF-3EA6-92E7A8EABC14}"/>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6" name="Footer Placeholder 5">
            <a:extLst>
              <a:ext uri="{FF2B5EF4-FFF2-40B4-BE49-F238E27FC236}">
                <a16:creationId xmlns:a16="http://schemas.microsoft.com/office/drawing/2014/main" id="{438F94B8-EB17-C952-3821-FC58BAE504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78DABC-F9CF-C13B-8BDF-6BEA78852263}"/>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2700296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CA90-362B-A918-9028-C5383557F2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D0A7A7-FD24-73F0-B14D-7BFE25578B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657219-8392-0CC5-96E0-640897BDF1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06A6F3-7AA7-B7F4-1763-904CF577D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95ED4D-AA66-607B-CAD0-34E9A42365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841D9-4780-E163-EDF1-1AE7B05EBC82}"/>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8" name="Footer Placeholder 7">
            <a:extLst>
              <a:ext uri="{FF2B5EF4-FFF2-40B4-BE49-F238E27FC236}">
                <a16:creationId xmlns:a16="http://schemas.microsoft.com/office/drawing/2014/main" id="{EDA9196C-0900-297D-50DB-464CEA5C00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88082E-C311-8EAE-6B73-03C90209A864}"/>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219422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A576-8DD0-63BC-2703-57D1AA89CD0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835D7A-C8A2-4084-5DC8-508015C97D40}"/>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4" name="Footer Placeholder 3">
            <a:extLst>
              <a:ext uri="{FF2B5EF4-FFF2-40B4-BE49-F238E27FC236}">
                <a16:creationId xmlns:a16="http://schemas.microsoft.com/office/drawing/2014/main" id="{7FB93CB7-F13F-282E-B0C3-042853FDED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4AD618-3B70-68D1-7057-04B9531B4E1A}"/>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769839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784F40-E989-6FF1-2B06-3E51BF373050}"/>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3" name="Footer Placeholder 2">
            <a:extLst>
              <a:ext uri="{FF2B5EF4-FFF2-40B4-BE49-F238E27FC236}">
                <a16:creationId xmlns:a16="http://schemas.microsoft.com/office/drawing/2014/main" id="{B15A3B70-DB3E-DC91-9F2B-1778D6CB08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3C236F-692D-205A-039F-BB50D5954791}"/>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053046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35B54-B750-E5F3-7BA3-B8581EA05F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33A2C9-5448-223E-62E1-894CF729C6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4A7D8A-C647-B31C-79A9-7FBA37D8EA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8A9CB-97B5-8FD5-CB1B-10C22CBE403A}"/>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6" name="Footer Placeholder 5">
            <a:extLst>
              <a:ext uri="{FF2B5EF4-FFF2-40B4-BE49-F238E27FC236}">
                <a16:creationId xmlns:a16="http://schemas.microsoft.com/office/drawing/2014/main" id="{1EA7C9D8-428A-E3DF-F019-5E6880AC94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886E3D-4BAB-AC27-D6DB-CFE0CF46DF2C}"/>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4132067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55C56-5DD1-8206-FD83-1E667AE99C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1DC155-3B93-65C5-8095-290CBC09F7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B5DB6F-9F88-8CD8-F704-15B9823FCF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653C4E-8AAE-A479-C5CA-D1059A81FAF2}"/>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6" name="Footer Placeholder 5">
            <a:extLst>
              <a:ext uri="{FF2B5EF4-FFF2-40B4-BE49-F238E27FC236}">
                <a16:creationId xmlns:a16="http://schemas.microsoft.com/office/drawing/2014/main" id="{4ABC543D-6AD3-B954-DE3A-3FE766162D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D95589-8E2E-3FF7-95F3-14D5104763DD}"/>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319118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3F03D-4390-8C95-74FB-60B8A8CE6A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0D66F5-0EA4-FBB2-D5CF-9A7E584F52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4580F8-65D8-9732-6378-B683A8B6EEB0}"/>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5" name="Footer Placeholder 4">
            <a:extLst>
              <a:ext uri="{FF2B5EF4-FFF2-40B4-BE49-F238E27FC236}">
                <a16:creationId xmlns:a16="http://schemas.microsoft.com/office/drawing/2014/main" id="{80CB2C1D-BD5C-04E7-0F86-2BC0FCB25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536974-4121-34EE-15EA-248FE3F7B3AA}"/>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004685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5A3D41-0B50-EF99-A147-37FE5ABE2E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052E0E-3328-7A9E-3447-47389DE988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CB6A6C-1395-6454-A630-A54E3B183CF6}"/>
              </a:ext>
            </a:extLst>
          </p:cNvPr>
          <p:cNvSpPr>
            <a:spLocks noGrp="1"/>
          </p:cNvSpPr>
          <p:nvPr>
            <p:ph type="dt" sz="half" idx="10"/>
          </p:nvPr>
        </p:nvSpPr>
        <p:spPr/>
        <p:txBody>
          <a:bodyPr/>
          <a:lstStyle/>
          <a:p>
            <a:fld id="{1F3DE6CE-4963-4B81-A12E-689EEC54CBF8}" type="datetimeFigureOut">
              <a:rPr lang="en-US" smtClean="0"/>
              <a:t>8/22/2026</a:t>
            </a:fld>
            <a:endParaRPr lang="en-US"/>
          </a:p>
        </p:txBody>
      </p:sp>
      <p:sp>
        <p:nvSpPr>
          <p:cNvPr id="5" name="Footer Placeholder 4">
            <a:extLst>
              <a:ext uri="{FF2B5EF4-FFF2-40B4-BE49-F238E27FC236}">
                <a16:creationId xmlns:a16="http://schemas.microsoft.com/office/drawing/2014/main" id="{2C35D537-6E1A-DA22-3B06-BDC347516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2428B-3CEF-3339-18B9-081198D62339}"/>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644678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CC0513-3A01-A00F-0A8E-EE91272A7F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A4BCE9-B723-008B-5EFC-00DFB01774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8897EF-9A82-1E8E-4AB4-552CB005F1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DE6CE-4963-4B81-A12E-689EEC54CBF8}" type="datetimeFigureOut">
              <a:rPr lang="en-US" smtClean="0"/>
              <a:t>8/22/2026</a:t>
            </a:fld>
            <a:endParaRPr lang="en-US"/>
          </a:p>
        </p:txBody>
      </p:sp>
      <p:sp>
        <p:nvSpPr>
          <p:cNvPr id="5" name="Footer Placeholder 4">
            <a:extLst>
              <a:ext uri="{FF2B5EF4-FFF2-40B4-BE49-F238E27FC236}">
                <a16:creationId xmlns:a16="http://schemas.microsoft.com/office/drawing/2014/main" id="{6A792380-20FD-228A-5937-E283EEE3ED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55C9B2-76B7-5696-B9E3-3AFCDF584B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675363-ED6D-4EF3-B4CE-C77B6BB235B6}" type="slidenum">
              <a:rPr lang="en-US" smtClean="0"/>
              <a:t>‹#›</a:t>
            </a:fld>
            <a:endParaRPr lang="en-US"/>
          </a:p>
        </p:txBody>
      </p:sp>
    </p:spTree>
    <p:extLst>
      <p:ext uri="{BB962C8B-B14F-4D97-AF65-F5344CB8AC3E}">
        <p14:creationId xmlns:p14="http://schemas.microsoft.com/office/powerpoint/2010/main" val="2657165214"/>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25C2-7D2D-F30C-D1B2-811F2344C26C}"/>
              </a:ext>
            </a:extLst>
          </p:cNvPr>
          <p:cNvSpPr>
            <a:spLocks noGrp="1"/>
          </p:cNvSpPr>
          <p:nvPr>
            <p:ph type="ctrTitle"/>
          </p:nvPr>
        </p:nvSpPr>
        <p:spPr>
          <a:xfrm>
            <a:off x="0" y="1360713"/>
            <a:ext cx="12012119" cy="2188029"/>
          </a:xfrm>
        </p:spPr>
        <p:txBody>
          <a:bodyPr>
            <a:no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a:t> </a:t>
            </a:r>
            <a:r>
              <a:rPr lang="en-US" sz="2800" b="1" dirty="0">
                <a:latin typeface="Times New Roman" panose="02020603050405020304" pitchFamily="18" charset="0"/>
                <a:cs typeface="Times New Roman" panose="02020603050405020304" pitchFamily="18" charset="0"/>
              </a:rPr>
              <a:t>               </a:t>
            </a: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Sythentic Mobile Phone </a:t>
            </a:r>
            <a:r>
              <a:rPr lang="en-US" sz="2800" b="1" dirty="0">
                <a:solidFill>
                  <a:schemeClr val="tx1"/>
                </a:solidFill>
                <a:latin typeface="Times New Roman" panose="02020603050405020304" pitchFamily="18" charset="0"/>
                <a:cs typeface="Times New Roman" panose="02020603050405020304" pitchFamily="18" charset="0"/>
              </a:rPr>
              <a:t>Store Sales Analysis And Consumer</a:t>
            </a:r>
            <a:br>
              <a:rPr lang="en-US" sz="2800" b="1" dirty="0">
                <a:solidFill>
                  <a:schemeClr val="tx1"/>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Buying Trends</a:t>
            </a:r>
            <a:br>
              <a:rPr lang="en-US" sz="2800" b="1" i="1" dirty="0">
                <a:solidFill>
                  <a:schemeClr val="tx1"/>
                </a:solidFill>
                <a:latin typeface="Times New Roman" panose="02020603050405020304" pitchFamily="18" charset="0"/>
                <a:cs typeface="Times New Roman" panose="02020603050405020304" pitchFamily="18" charset="0"/>
              </a:rPr>
            </a:br>
            <a:br>
              <a:rPr lang="en-US" sz="2800" b="1" i="1" dirty="0">
                <a:solidFill>
                  <a:schemeClr val="tx1"/>
                </a:solidFill>
                <a:latin typeface="Times New Roman" panose="02020603050405020304" pitchFamily="18" charset="0"/>
                <a:cs typeface="Times New Roman" panose="02020603050405020304" pitchFamily="18" charset="0"/>
              </a:rPr>
            </a:br>
            <a:endParaRPr lang="en-US" sz="2800" b="1"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2B5322F-24EE-3D9A-3572-3234A68950E2}"/>
              </a:ext>
            </a:extLst>
          </p:cNvPr>
          <p:cNvSpPr>
            <a:spLocks noGrp="1"/>
          </p:cNvSpPr>
          <p:nvPr>
            <p:ph type="subTitle" idx="1"/>
          </p:nvPr>
        </p:nvSpPr>
        <p:spPr>
          <a:xfrm>
            <a:off x="89940" y="3429000"/>
            <a:ext cx="12012119" cy="3271685"/>
          </a:xfrm>
        </p:spPr>
        <p:txBody>
          <a:bodyPr>
            <a:noAutofit/>
          </a:bodyPr>
          <a:lstStyle/>
          <a:p>
            <a:pPr algn="ctr"/>
            <a:endParaRPr lang="en-US" sz="2000" b="1" dirty="0">
              <a:solidFill>
                <a:schemeClr val="tx1"/>
              </a:solidFill>
              <a:latin typeface="Times New Roman" panose="02020603050405020304" pitchFamily="18" charset="0"/>
              <a:cs typeface="Times New Roman" panose="02020603050405020304" pitchFamily="18" charset="0"/>
            </a:endParaRPr>
          </a:p>
          <a:p>
            <a:pPr algn="ctr"/>
            <a:r>
              <a:rPr lang="en-US" sz="2000" b="1" dirty="0">
                <a:solidFill>
                  <a:schemeClr val="tx1"/>
                </a:solidFill>
                <a:latin typeface="Times New Roman" panose="02020603050405020304" pitchFamily="18" charset="0"/>
                <a:cs typeface="Times New Roman" panose="02020603050405020304" pitchFamily="18" charset="0"/>
              </a:rPr>
              <a:t>ODUNAYO ANIMASHAUN</a:t>
            </a:r>
          </a:p>
        </p:txBody>
      </p:sp>
      <p:sp>
        <p:nvSpPr>
          <p:cNvPr id="5" name="Rectangle 4">
            <a:extLst>
              <a:ext uri="{FF2B5EF4-FFF2-40B4-BE49-F238E27FC236}">
                <a16:creationId xmlns:a16="http://schemas.microsoft.com/office/drawing/2014/main" id="{4A552EDE-6AD4-940B-792C-D70AD4842B47}"/>
              </a:ext>
            </a:extLst>
          </p:cNvPr>
          <p:cNvSpPr/>
          <p:nvPr/>
        </p:nvSpPr>
        <p:spPr>
          <a:xfrm>
            <a:off x="1" y="0"/>
            <a:ext cx="12192000" cy="947057"/>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58D77D2-3C03-08F0-6B7C-EBEA88C3B320}"/>
              </a:ext>
            </a:extLst>
          </p:cNvPr>
          <p:cNvSpPr/>
          <p:nvPr/>
        </p:nvSpPr>
        <p:spPr>
          <a:xfrm>
            <a:off x="0" y="5910943"/>
            <a:ext cx="12192000" cy="947057"/>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9514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25C2-7D2D-F30C-D1B2-811F2344C26C}"/>
              </a:ext>
            </a:extLst>
          </p:cNvPr>
          <p:cNvSpPr>
            <a:spLocks noGrp="1"/>
          </p:cNvSpPr>
          <p:nvPr>
            <p:ph type="ctrTitle"/>
          </p:nvPr>
        </p:nvSpPr>
        <p:spPr>
          <a:xfrm>
            <a:off x="179881" y="81023"/>
            <a:ext cx="11617378" cy="3347978"/>
          </a:xfrm>
        </p:spPr>
        <p:txBody>
          <a:bodyPr>
            <a:noAutofit/>
          </a:bodyPr>
          <a:lstStyle/>
          <a:p>
            <a:pPr algn="ctr"/>
            <a:br>
              <a:rPr lang="en-US" sz="5000" i="1" dirty="0">
                <a:latin typeface="Times New Roman" panose="02020603050405020304" pitchFamily="18" charset="0"/>
                <a:cs typeface="Times New Roman" panose="02020603050405020304" pitchFamily="18" charset="0"/>
              </a:rPr>
            </a:br>
            <a:br>
              <a:rPr lang="en-US" sz="5000" i="1" dirty="0">
                <a:latin typeface="Times New Roman" panose="02020603050405020304" pitchFamily="18" charset="0"/>
                <a:cs typeface="Times New Roman" panose="02020603050405020304" pitchFamily="18" charset="0"/>
              </a:rPr>
            </a:br>
            <a:endParaRPr lang="en-US" sz="5000" dirty="0"/>
          </a:p>
        </p:txBody>
      </p:sp>
      <p:sp>
        <p:nvSpPr>
          <p:cNvPr id="3" name="Subtitle 2">
            <a:extLst>
              <a:ext uri="{FF2B5EF4-FFF2-40B4-BE49-F238E27FC236}">
                <a16:creationId xmlns:a16="http://schemas.microsoft.com/office/drawing/2014/main" id="{F2B5322F-24EE-3D9A-3572-3234A68950E2}"/>
              </a:ext>
            </a:extLst>
          </p:cNvPr>
          <p:cNvSpPr>
            <a:spLocks noGrp="1"/>
          </p:cNvSpPr>
          <p:nvPr>
            <p:ph type="subTitle" idx="1"/>
          </p:nvPr>
        </p:nvSpPr>
        <p:spPr>
          <a:xfrm>
            <a:off x="791736" y="1023256"/>
            <a:ext cx="10876979" cy="5253939"/>
          </a:xfrm>
          <a:ln>
            <a:solidFill>
              <a:schemeClr val="bg2">
                <a:lumMod val="60000"/>
                <a:lumOff val="40000"/>
              </a:schemeClr>
            </a:solidFill>
          </a:ln>
        </p:spPr>
        <p:txBody>
          <a:bodyPr>
            <a:normAutofit/>
          </a:bodyPr>
          <a:lstStyle/>
          <a:p>
            <a:pPr algn="l"/>
            <a:r>
              <a:rPr lang="en-US" b="1" dirty="0">
                <a:solidFill>
                  <a:schemeClr val="tx1"/>
                </a:solidFill>
                <a:latin typeface="Times New Roman" panose="02020603050405020304" pitchFamily="18" charset="0"/>
                <a:cs typeface="Times New Roman" panose="02020603050405020304" pitchFamily="18" charset="0"/>
              </a:rPr>
              <a:t>1.Introduction</a:t>
            </a:r>
          </a:p>
          <a:p>
            <a:pPr algn="l"/>
            <a:r>
              <a:rPr lang="en-US" b="1" dirty="0">
                <a:solidFill>
                  <a:schemeClr val="tx1"/>
                </a:solidFill>
                <a:latin typeface="Times New Roman" panose="02020603050405020304" pitchFamily="18" charset="0"/>
                <a:cs typeface="Times New Roman" panose="02020603050405020304" pitchFamily="18" charset="0"/>
              </a:rPr>
              <a:t>2.About the Dataset</a:t>
            </a:r>
          </a:p>
          <a:p>
            <a:pPr algn="l"/>
            <a:r>
              <a:rPr lang="en-US" b="1" dirty="0">
                <a:solidFill>
                  <a:schemeClr val="tx1"/>
                </a:solidFill>
                <a:latin typeface="Times New Roman" panose="02020603050405020304" pitchFamily="18" charset="0"/>
                <a:cs typeface="Times New Roman" panose="02020603050405020304" pitchFamily="18" charset="0"/>
              </a:rPr>
              <a:t>3.Problem Statement</a:t>
            </a:r>
          </a:p>
          <a:p>
            <a:pPr algn="l"/>
            <a:r>
              <a:rPr lang="en-US" b="1" dirty="0">
                <a:solidFill>
                  <a:schemeClr val="tx1"/>
                </a:solidFill>
                <a:latin typeface="Times New Roman" panose="02020603050405020304" pitchFamily="18" charset="0"/>
                <a:cs typeface="Times New Roman" panose="02020603050405020304" pitchFamily="18" charset="0"/>
              </a:rPr>
              <a:t>4.Aim and Objectives</a:t>
            </a:r>
          </a:p>
          <a:p>
            <a:pPr algn="l"/>
            <a:r>
              <a:rPr lang="en-US" b="1" dirty="0">
                <a:solidFill>
                  <a:schemeClr val="tx1"/>
                </a:solidFill>
                <a:latin typeface="Times New Roman" panose="02020603050405020304" pitchFamily="18" charset="0"/>
                <a:cs typeface="Times New Roman" panose="02020603050405020304" pitchFamily="18" charset="0"/>
              </a:rPr>
              <a:t>5.Research Questions</a:t>
            </a:r>
          </a:p>
          <a:p>
            <a:pPr algn="l"/>
            <a:r>
              <a:rPr lang="en-US" b="1" dirty="0">
                <a:solidFill>
                  <a:schemeClr val="tx1"/>
                </a:solidFill>
                <a:latin typeface="Times New Roman" panose="02020603050405020304" pitchFamily="18" charset="0"/>
                <a:cs typeface="Times New Roman" panose="02020603050405020304" pitchFamily="18" charset="0"/>
              </a:rPr>
              <a:t>6.Charts and Visualizations</a:t>
            </a:r>
          </a:p>
          <a:p>
            <a:pPr algn="l"/>
            <a:r>
              <a:rPr lang="en-US" b="1" dirty="0">
                <a:solidFill>
                  <a:schemeClr val="tx1"/>
                </a:solidFill>
                <a:latin typeface="Times New Roman" panose="02020603050405020304" pitchFamily="18" charset="0"/>
                <a:cs typeface="Times New Roman" panose="02020603050405020304" pitchFamily="18" charset="0"/>
              </a:rPr>
              <a:t>7.Conclusion/Discussion</a:t>
            </a:r>
          </a:p>
          <a:p>
            <a:pPr algn="l"/>
            <a:r>
              <a:rPr lang="en-US" b="1" dirty="0">
                <a:solidFill>
                  <a:schemeClr val="tx1"/>
                </a:solidFill>
                <a:latin typeface="Times New Roman" panose="02020603050405020304" pitchFamily="18" charset="0"/>
                <a:cs typeface="Times New Roman" panose="02020603050405020304" pitchFamily="18" charset="0"/>
              </a:rPr>
              <a:t>8.Recommendation</a:t>
            </a:r>
          </a:p>
          <a:p>
            <a:pPr algn="l"/>
            <a:r>
              <a:rPr lang="en-US" b="1" dirty="0">
                <a:solidFill>
                  <a:schemeClr val="tx1"/>
                </a:solidFill>
                <a:latin typeface="Times New Roman" panose="02020603050405020304" pitchFamily="18" charset="0"/>
                <a:cs typeface="Times New Roman" panose="02020603050405020304" pitchFamily="18" charset="0"/>
              </a:rPr>
              <a:t>9.Challenges faced</a:t>
            </a:r>
          </a:p>
        </p:txBody>
      </p:sp>
      <p:sp>
        <p:nvSpPr>
          <p:cNvPr id="5" name="Rectangle 4">
            <a:extLst>
              <a:ext uri="{FF2B5EF4-FFF2-40B4-BE49-F238E27FC236}">
                <a16:creationId xmlns:a16="http://schemas.microsoft.com/office/drawing/2014/main" id="{9B7EFFB7-9983-C260-EF5F-8FCEB908DD6E}"/>
              </a:ext>
            </a:extLst>
          </p:cNvPr>
          <p:cNvSpPr/>
          <p:nvPr/>
        </p:nvSpPr>
        <p:spPr>
          <a:xfrm>
            <a:off x="0" y="0"/>
            <a:ext cx="791736" cy="6858000"/>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AE20B4A-5BCF-1CDB-69FD-66E49AF53FF1}"/>
              </a:ext>
            </a:extLst>
          </p:cNvPr>
          <p:cNvSpPr txBox="1"/>
          <p:nvPr/>
        </p:nvSpPr>
        <p:spPr>
          <a:xfrm>
            <a:off x="2492829" y="81023"/>
            <a:ext cx="6879771" cy="523220"/>
          </a:xfrm>
          <a:prstGeom prst="rect">
            <a:avLst/>
          </a:prstGeom>
          <a:noFill/>
        </p:spPr>
        <p:txBody>
          <a:bodyPr wrap="square" rtlCol="0">
            <a:sp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PROJECT OUTLINE</a:t>
            </a:r>
          </a:p>
        </p:txBody>
      </p:sp>
    </p:spTree>
    <p:extLst>
      <p:ext uri="{BB962C8B-B14F-4D97-AF65-F5344CB8AC3E}">
        <p14:creationId xmlns:p14="http://schemas.microsoft.com/office/powerpoint/2010/main" val="3170348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C17B5-10CB-E7A3-E55C-8027998F6878}"/>
              </a:ext>
            </a:extLst>
          </p:cNvPr>
          <p:cNvSpPr>
            <a:spLocks noGrp="1"/>
          </p:cNvSpPr>
          <p:nvPr>
            <p:ph type="ctrTitle"/>
          </p:nvPr>
        </p:nvSpPr>
        <p:spPr>
          <a:xfrm>
            <a:off x="684212" y="162047"/>
            <a:ext cx="10080244" cy="3541852"/>
          </a:xfrm>
        </p:spPr>
        <p:txBody>
          <a:bodyPr/>
          <a:lstStyle/>
          <a:p>
            <a:r>
              <a:rPr lang="en-US" dirty="0"/>
              <a:t>    </a:t>
            </a:r>
          </a:p>
        </p:txBody>
      </p:sp>
      <p:sp>
        <p:nvSpPr>
          <p:cNvPr id="3" name="Subtitle 2">
            <a:extLst>
              <a:ext uri="{FF2B5EF4-FFF2-40B4-BE49-F238E27FC236}">
                <a16:creationId xmlns:a16="http://schemas.microsoft.com/office/drawing/2014/main" id="{E9F68D19-45EE-58D8-101E-9D894E81ABA1}"/>
              </a:ext>
            </a:extLst>
          </p:cNvPr>
          <p:cNvSpPr>
            <a:spLocks noGrp="1"/>
          </p:cNvSpPr>
          <p:nvPr>
            <p:ph type="subTitle" idx="1"/>
          </p:nvPr>
        </p:nvSpPr>
        <p:spPr>
          <a:xfrm>
            <a:off x="324464" y="1109105"/>
            <a:ext cx="11021961" cy="5331024"/>
          </a:xfrm>
        </p:spPr>
        <p:txBody>
          <a:bodyPr>
            <a:noAutofit/>
          </a:bodyPr>
          <a:lstStyle/>
          <a:p>
            <a:pPr algn="ctr"/>
            <a:r>
              <a:rPr lang="en-US" sz="4800" b="1" dirty="0">
                <a:latin typeface="+mj-lt"/>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INTRODUCTION</a:t>
            </a:r>
          </a:p>
          <a:p>
            <a:pPr marL="685800" indent="-6858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TKOD Phone Store is a retail store with stores in various countries that specialize in the sales of different brands of smartphones. </a:t>
            </a:r>
          </a:p>
          <a:p>
            <a:pPr marL="685800" indent="-6858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This store serves as important point where customers from different countries purchase new and original smartphones of choice</a:t>
            </a:r>
            <a:endParaRPr lang="en-US" sz="3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D6C39FCC-8D49-AA64-167D-664740BB8215}"/>
              </a:ext>
            </a:extLst>
          </p:cNvPr>
          <p:cNvSpPr/>
          <p:nvPr/>
        </p:nvSpPr>
        <p:spPr>
          <a:xfrm>
            <a:off x="1" y="1"/>
            <a:ext cx="12192000" cy="696686"/>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689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911A1-AC30-455F-613D-0744855E9A40}"/>
              </a:ext>
            </a:extLst>
          </p:cNvPr>
          <p:cNvSpPr>
            <a:spLocks noGrp="1"/>
          </p:cNvSpPr>
          <p:nvPr>
            <p:ph type="ctrTitle"/>
          </p:nvPr>
        </p:nvSpPr>
        <p:spPr>
          <a:xfrm>
            <a:off x="1034321" y="674915"/>
            <a:ext cx="9100279" cy="685799"/>
          </a:xfrm>
        </p:spPr>
        <p:txBody>
          <a:bodyPr>
            <a:noAutofit/>
          </a:bodyPr>
          <a:lstStyle/>
          <a:p>
            <a:pPr algn="ctr"/>
            <a:r>
              <a:rPr lang="en-US" sz="4000" b="1" dirty="0">
                <a:solidFill>
                  <a:schemeClr val="tx1"/>
                </a:solidFill>
                <a:latin typeface="Calibri" panose="020F0502020204030204" pitchFamily="34" charset="0"/>
                <a:ea typeface="Calibri" panose="020F0502020204030204" pitchFamily="34" charset="0"/>
                <a:cs typeface="Calibri" panose="020F0502020204030204" pitchFamily="34" charset="0"/>
              </a:rPr>
              <a:t>ABOUT THE DATASET</a:t>
            </a:r>
          </a:p>
        </p:txBody>
      </p:sp>
      <p:sp>
        <p:nvSpPr>
          <p:cNvPr id="3" name="Subtitle 2">
            <a:extLst>
              <a:ext uri="{FF2B5EF4-FFF2-40B4-BE49-F238E27FC236}">
                <a16:creationId xmlns:a16="http://schemas.microsoft.com/office/drawing/2014/main" id="{546841D4-2FDB-27C9-2B1B-84653378222A}"/>
              </a:ext>
            </a:extLst>
          </p:cNvPr>
          <p:cNvSpPr>
            <a:spLocks noGrp="1"/>
          </p:cNvSpPr>
          <p:nvPr>
            <p:ph type="subTitle" idx="1"/>
          </p:nvPr>
        </p:nvSpPr>
        <p:spPr>
          <a:xfrm>
            <a:off x="124223" y="1524001"/>
            <a:ext cx="11690555" cy="5040086"/>
          </a:xfrm>
        </p:spPr>
        <p:txBody>
          <a:bodyPr>
            <a:normAutofit/>
          </a:bodyPr>
          <a:lstStyle/>
          <a:p>
            <a:pPr algn="just"/>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TKOD Phone Store dataset is a structured collection of information related to the store sales operation. It is used for analysis, inventory management, and business decisions.</a:t>
            </a:r>
          </a:p>
          <a:p>
            <a:pPr algn="just"/>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      The fields that appeared in the TKOD Phone Store Dataset include:</a:t>
            </a:r>
          </a:p>
          <a:p>
            <a:pPr marL="457200" indent="-4572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Model: Phone Model name</a:t>
            </a:r>
          </a:p>
          <a:p>
            <a:pPr marL="457200" indent="-4572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Price/ Price-USD: Selling price for a unit of phone/ The selling price in dollars</a:t>
            </a:r>
          </a:p>
          <a:p>
            <a:pPr marL="457200" indent="-4572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Brand: Manufacturer for a Phone Model. There were a total of 10 brands in the dataset analyzed.</a:t>
            </a:r>
          </a:p>
          <a:p>
            <a:pPr marL="457200" indent="-4572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Payment Method: Medium of payment and it was through cash, installments, credit card and so on.</a:t>
            </a:r>
          </a:p>
        </p:txBody>
      </p:sp>
      <p:sp>
        <p:nvSpPr>
          <p:cNvPr id="5" name="Rectangle 4">
            <a:extLst>
              <a:ext uri="{FF2B5EF4-FFF2-40B4-BE49-F238E27FC236}">
                <a16:creationId xmlns:a16="http://schemas.microsoft.com/office/drawing/2014/main" id="{EF141EE5-19EA-57DE-65A6-3967FC138D1B}"/>
              </a:ext>
            </a:extLst>
          </p:cNvPr>
          <p:cNvSpPr/>
          <p:nvPr/>
        </p:nvSpPr>
        <p:spPr>
          <a:xfrm>
            <a:off x="1" y="1"/>
            <a:ext cx="12192000" cy="674914"/>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9119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D34645-69DF-7696-8854-33E6D492E293}"/>
              </a:ext>
            </a:extLst>
          </p:cNvPr>
          <p:cNvSpPr>
            <a:spLocks noGrp="1"/>
          </p:cNvSpPr>
          <p:nvPr>
            <p:ph type="ctrTitle"/>
          </p:nvPr>
        </p:nvSpPr>
        <p:spPr>
          <a:xfrm>
            <a:off x="1458686" y="740230"/>
            <a:ext cx="7739741" cy="642258"/>
          </a:xfrm>
        </p:spPr>
        <p:txBody>
          <a:bodyPr>
            <a:normAutofit/>
          </a:bodyPr>
          <a:lstStyle/>
          <a:p>
            <a:pPr algn="ctr"/>
            <a:r>
              <a:rPr lang="en-US" sz="4000" b="1" dirty="0">
                <a:solidFill>
                  <a:schemeClr val="tx1"/>
                </a:solidFill>
                <a:latin typeface="Calibri" panose="020F0502020204030204" pitchFamily="34" charset="0"/>
                <a:ea typeface="Calibri" panose="020F0502020204030204" pitchFamily="34" charset="0"/>
                <a:cs typeface="Calibri" panose="020F0502020204030204" pitchFamily="34" charset="0"/>
              </a:rPr>
              <a:t>  Problem Statement  </a:t>
            </a:r>
          </a:p>
        </p:txBody>
      </p:sp>
      <p:sp>
        <p:nvSpPr>
          <p:cNvPr id="5" name="Subtitle 4">
            <a:extLst>
              <a:ext uri="{FF2B5EF4-FFF2-40B4-BE49-F238E27FC236}">
                <a16:creationId xmlns:a16="http://schemas.microsoft.com/office/drawing/2014/main" id="{460D93E5-4EC8-0F0F-4C7D-C260BC31851F}"/>
              </a:ext>
            </a:extLst>
          </p:cNvPr>
          <p:cNvSpPr>
            <a:spLocks noGrp="1"/>
          </p:cNvSpPr>
          <p:nvPr>
            <p:ph type="subTitle" idx="1"/>
          </p:nvPr>
        </p:nvSpPr>
        <p:spPr>
          <a:xfrm>
            <a:off x="402772" y="1872343"/>
            <a:ext cx="11006251" cy="4785150"/>
          </a:xfrm>
        </p:spPr>
        <p:txBody>
          <a:bodyPr>
            <a:normAutofit/>
          </a:bodyPr>
          <a:lstStyle/>
          <a:p>
            <a:pPr marL="342900" indent="-3429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TKOD Phone Store records large amounts of sales data from its mobile phone transactions. However, without proper analysis, it is difficult to clearly understand sales performance, customer preferences, and product demand. </a:t>
            </a:r>
          </a:p>
          <a:p>
            <a:pPr marL="342900" indent="-3429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This makes it challenging for the store to identify which brand perform best and how sales change over months. </a:t>
            </a:r>
          </a:p>
          <a:p>
            <a:pPr marL="342900" indent="-3429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Therefore, there is a need to analyze the sales data and present it in an interactive dashboard that provides clear insights to support better business decisions.</a:t>
            </a:r>
          </a:p>
          <a:p>
            <a:endParaRPr lang="en-US" sz="2800" b="1" dirty="0">
              <a:solidFill>
                <a:schemeClr val="tx1"/>
              </a:solidFill>
              <a:latin typeface="+mj-lt"/>
              <a:cs typeface="Times New Roman" panose="02020603050405020304" pitchFamily="18" charset="0"/>
            </a:endParaRPr>
          </a:p>
        </p:txBody>
      </p:sp>
      <p:sp>
        <p:nvSpPr>
          <p:cNvPr id="3" name="Rectangle 2">
            <a:extLst>
              <a:ext uri="{FF2B5EF4-FFF2-40B4-BE49-F238E27FC236}">
                <a16:creationId xmlns:a16="http://schemas.microsoft.com/office/drawing/2014/main" id="{514EDCE3-BABB-335F-DB6C-F85549B599F4}"/>
              </a:ext>
            </a:extLst>
          </p:cNvPr>
          <p:cNvSpPr/>
          <p:nvPr/>
        </p:nvSpPr>
        <p:spPr>
          <a:xfrm>
            <a:off x="1" y="0"/>
            <a:ext cx="12192000" cy="642257"/>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5446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B07C2-1C62-1D9B-8AA5-52EB5129D41E}"/>
              </a:ext>
            </a:extLst>
          </p:cNvPr>
          <p:cNvSpPr>
            <a:spLocks noGrp="1"/>
          </p:cNvSpPr>
          <p:nvPr>
            <p:ph type="ctrTitle"/>
          </p:nvPr>
        </p:nvSpPr>
        <p:spPr>
          <a:xfrm>
            <a:off x="403123" y="566058"/>
            <a:ext cx="10471706" cy="805542"/>
          </a:xfrm>
        </p:spPr>
        <p:txBody>
          <a:bodyPr>
            <a:noAutofit/>
          </a:bodyPr>
          <a:lstStyle/>
          <a:p>
            <a:r>
              <a:rPr lang="en-US" sz="3800" b="1" dirty="0">
                <a:solidFill>
                  <a:schemeClr val="tx1"/>
                </a:solidFill>
                <a:latin typeface="Times New Roman" panose="02020603050405020304" pitchFamily="18" charset="0"/>
                <a:cs typeface="Times New Roman" panose="02020603050405020304" pitchFamily="18" charset="0"/>
              </a:rPr>
              <a:t>    AIM AND OBJECTIVES OF THE STUDY</a:t>
            </a:r>
          </a:p>
        </p:txBody>
      </p:sp>
      <p:sp>
        <p:nvSpPr>
          <p:cNvPr id="3" name="Subtitle 2">
            <a:extLst>
              <a:ext uri="{FF2B5EF4-FFF2-40B4-BE49-F238E27FC236}">
                <a16:creationId xmlns:a16="http://schemas.microsoft.com/office/drawing/2014/main" id="{71647653-9DEA-3F28-9435-E0AD17F4D3AA}"/>
              </a:ext>
            </a:extLst>
          </p:cNvPr>
          <p:cNvSpPr>
            <a:spLocks noGrp="1"/>
          </p:cNvSpPr>
          <p:nvPr>
            <p:ph type="subTitle" idx="1"/>
          </p:nvPr>
        </p:nvSpPr>
        <p:spPr>
          <a:xfrm>
            <a:off x="403123" y="1861457"/>
            <a:ext cx="11061290" cy="4689245"/>
          </a:xfrm>
        </p:spPr>
        <p:txBody>
          <a:bodyPr>
            <a:normAutofit/>
          </a:bodyPr>
          <a:lstStyle/>
          <a:p>
            <a:pPr algn="just"/>
            <a:r>
              <a:rPr lang="en-US" sz="2400" dirty="0">
                <a:solidFill>
                  <a:schemeClr val="tx1"/>
                </a:solidFill>
                <a:latin typeface="Times New Roman" panose="02020603050405020304" pitchFamily="18" charset="0"/>
                <a:cs typeface="Times New Roman" panose="02020603050405020304" pitchFamily="18" charset="0"/>
              </a:rPr>
              <a:t>The aim of this study is to analyze the sales data of TKOD Phone Store and visualize key sales insights using an interactive dashboard.</a:t>
            </a:r>
          </a:p>
          <a:p>
            <a:pPr algn="just"/>
            <a:r>
              <a:rPr lang="en-US" sz="2400" dirty="0">
                <a:solidFill>
                  <a:schemeClr val="tx1"/>
                </a:solidFill>
                <a:latin typeface="Times New Roman" panose="02020603050405020304" pitchFamily="18" charset="0"/>
                <a:cs typeface="Times New Roman" panose="02020603050405020304" pitchFamily="18" charset="0"/>
              </a:rPr>
              <a:t>The objectives of the study are:</a:t>
            </a:r>
          </a:p>
          <a:p>
            <a:pPr marL="342900" indent="-342900" algn="just">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Analyze the total revenue generated from smartphone sales.</a:t>
            </a:r>
          </a:p>
          <a:p>
            <a:pPr marL="342900" indent="-342900" algn="just">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Determine the total number of smartphone units sold.</a:t>
            </a:r>
          </a:p>
          <a:p>
            <a:pPr marL="342900" indent="-342900" algn="just">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Examine the monthly trend of smartphone sales.</a:t>
            </a:r>
          </a:p>
          <a:p>
            <a:pPr marL="342900" indent="-342900" algn="just">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Evaluate customer satisfaction using average ratings.</a:t>
            </a:r>
          </a:p>
          <a:p>
            <a:pPr algn="just"/>
            <a:endParaRPr lang="en-US" sz="2400" dirty="0">
              <a:solidFill>
                <a:schemeClr val="tx1"/>
              </a:solidFill>
              <a:latin typeface="+mj-lt"/>
            </a:endParaRPr>
          </a:p>
          <a:p>
            <a:pPr marL="342900" indent="-342900">
              <a:buFont typeface="Wingdings" panose="05000000000000000000" pitchFamily="2" charset="2"/>
              <a:buChar char="§"/>
            </a:pPr>
            <a:endParaRPr lang="en-US" sz="2400" b="1" dirty="0">
              <a:solidFill>
                <a:schemeClr val="tx1"/>
              </a:solidFill>
              <a:latin typeface="+mj-lt"/>
            </a:endParaRPr>
          </a:p>
        </p:txBody>
      </p:sp>
      <p:sp>
        <p:nvSpPr>
          <p:cNvPr id="5" name="Rectangle 4">
            <a:extLst>
              <a:ext uri="{FF2B5EF4-FFF2-40B4-BE49-F238E27FC236}">
                <a16:creationId xmlns:a16="http://schemas.microsoft.com/office/drawing/2014/main" id="{8F2B9F3D-B708-7189-9D4A-7F3D22D6AA48}"/>
              </a:ext>
            </a:extLst>
          </p:cNvPr>
          <p:cNvSpPr/>
          <p:nvPr/>
        </p:nvSpPr>
        <p:spPr>
          <a:xfrm>
            <a:off x="0" y="-166231"/>
            <a:ext cx="12192000" cy="947057"/>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8408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F514A-30A4-98C6-319D-D36C1EF97377}"/>
              </a:ext>
            </a:extLst>
          </p:cNvPr>
          <p:cNvSpPr>
            <a:spLocks noGrp="1"/>
          </p:cNvSpPr>
          <p:nvPr>
            <p:ph type="ctrTitle"/>
          </p:nvPr>
        </p:nvSpPr>
        <p:spPr>
          <a:xfrm>
            <a:off x="1045760" y="674913"/>
            <a:ext cx="8871125" cy="783773"/>
          </a:xfrm>
        </p:spPr>
        <p:txBody>
          <a:bodyPr>
            <a:normAutofit fontScale="90000"/>
          </a:bodyPr>
          <a:lstStyle/>
          <a:p>
            <a:r>
              <a:rPr lang="en-US" b="1" dirty="0">
                <a:solidFill>
                  <a:schemeClr val="tx1"/>
                </a:solidFill>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Research Questions</a:t>
            </a:r>
          </a:p>
        </p:txBody>
      </p:sp>
      <p:sp>
        <p:nvSpPr>
          <p:cNvPr id="3" name="Subtitle 2">
            <a:extLst>
              <a:ext uri="{FF2B5EF4-FFF2-40B4-BE49-F238E27FC236}">
                <a16:creationId xmlns:a16="http://schemas.microsoft.com/office/drawing/2014/main" id="{15E50DE2-AC0E-D579-BD94-3ED56E558577}"/>
              </a:ext>
            </a:extLst>
          </p:cNvPr>
          <p:cNvSpPr>
            <a:spLocks noGrp="1"/>
          </p:cNvSpPr>
          <p:nvPr>
            <p:ph type="subTitle" idx="1"/>
          </p:nvPr>
        </p:nvSpPr>
        <p:spPr>
          <a:xfrm>
            <a:off x="274864" y="1458686"/>
            <a:ext cx="11386194" cy="4647146"/>
          </a:xfrm>
        </p:spPr>
        <p:txBody>
          <a:bodyPr>
            <a:noAutofit/>
          </a:bodyPr>
          <a:lstStyle/>
          <a:p>
            <a:pPr algn="l">
              <a:lnSpc>
                <a:spcPct val="120000"/>
              </a:lnSpc>
            </a:pPr>
            <a:endParaRPr lang="en-US" sz="2400" b="1" dirty="0">
              <a:solidFill>
                <a:schemeClr val="tx1"/>
              </a:solidFill>
              <a:latin typeface="+mj-lt"/>
            </a:endParaRPr>
          </a:p>
          <a:p>
            <a:pPr marL="457200" lvl="0" indent="-457200" algn="l">
              <a:lnSpc>
                <a:spcPct val="120000"/>
              </a:lnSpc>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How do smart phone unit sales vary across different months in 2025?</a:t>
            </a:r>
          </a:p>
          <a:p>
            <a:pPr marL="457200" lvl="0" indent="-457200" algn="l">
              <a:lnSpc>
                <a:spcPct val="120000"/>
              </a:lnSpc>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Which smart phone brands generated the highest total revenue?</a:t>
            </a:r>
          </a:p>
          <a:p>
            <a:pPr marL="457200" lvl="0" indent="-457200" algn="l">
              <a:lnSpc>
                <a:spcPct val="120000"/>
              </a:lnSpc>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Which smart phone model generated the highest total revenue?</a:t>
            </a:r>
          </a:p>
          <a:p>
            <a:pPr marL="457200" lvl="0" indent="-457200" algn="l">
              <a:lnSpc>
                <a:spcPct val="120000"/>
              </a:lnSpc>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What payment methods do customers most commonly use when purchasing mobile phones?</a:t>
            </a:r>
          </a:p>
        </p:txBody>
      </p:sp>
      <p:sp>
        <p:nvSpPr>
          <p:cNvPr id="5" name="Rectangle 4">
            <a:extLst>
              <a:ext uri="{FF2B5EF4-FFF2-40B4-BE49-F238E27FC236}">
                <a16:creationId xmlns:a16="http://schemas.microsoft.com/office/drawing/2014/main" id="{54C715CE-2852-41FD-FA3B-8AA5EDAC27CC}"/>
              </a:ext>
            </a:extLst>
          </p:cNvPr>
          <p:cNvSpPr/>
          <p:nvPr/>
        </p:nvSpPr>
        <p:spPr>
          <a:xfrm>
            <a:off x="1" y="1"/>
            <a:ext cx="12192000" cy="489856"/>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7615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ED16684D-DFCD-8AA2-C728-B45AEB7E4E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0" y="0"/>
            <a:ext cx="12192000" cy="6858000"/>
          </a:xfrm>
          <a:prstGeom prst="rect">
            <a:avLst/>
          </a:prstGeom>
        </p:spPr>
      </p:pic>
    </p:spTree>
    <p:extLst>
      <p:ext uri="{BB962C8B-B14F-4D97-AF65-F5344CB8AC3E}">
        <p14:creationId xmlns:p14="http://schemas.microsoft.com/office/powerpoint/2010/main" val="1287772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62F64A-C7B6-9667-0600-81AFF9B5177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311743" cy="6858000"/>
          </a:xfrm>
          <a:prstGeom prst="rect">
            <a:avLst/>
          </a:prstGeom>
        </p:spPr>
      </p:pic>
    </p:spTree>
    <p:extLst>
      <p:ext uri="{BB962C8B-B14F-4D97-AF65-F5344CB8AC3E}">
        <p14:creationId xmlns:p14="http://schemas.microsoft.com/office/powerpoint/2010/main" val="283379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1493DD-D12C-4CC6-B970-502224BA6A7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645790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6E087E-007F-AF92-F99B-7282F649AFC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268200" cy="6857999"/>
          </a:xfrm>
          <a:prstGeom prst="rect">
            <a:avLst/>
          </a:prstGeom>
        </p:spPr>
      </p:pic>
    </p:spTree>
    <p:extLst>
      <p:ext uri="{BB962C8B-B14F-4D97-AF65-F5344CB8AC3E}">
        <p14:creationId xmlns:p14="http://schemas.microsoft.com/office/powerpoint/2010/main" val="1899405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B40D67-394C-1429-2097-891D951B4F6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192000" cy="6857999"/>
          </a:xfrm>
          <a:prstGeom prst="rect">
            <a:avLst/>
          </a:prstGeom>
        </p:spPr>
      </p:pic>
    </p:spTree>
    <p:extLst>
      <p:ext uri="{BB962C8B-B14F-4D97-AF65-F5344CB8AC3E}">
        <p14:creationId xmlns:p14="http://schemas.microsoft.com/office/powerpoint/2010/main" val="1354328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63BA1AC3-3B35-C206-066E-F9FAC5D3876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spTree>
    <p:extLst>
      <p:ext uri="{BB962C8B-B14F-4D97-AF65-F5344CB8AC3E}">
        <p14:creationId xmlns:p14="http://schemas.microsoft.com/office/powerpoint/2010/main" val="1709884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DAE512-E01C-5A29-59EF-726225CA2A00}"/>
              </a:ext>
            </a:extLst>
          </p:cNvPr>
          <p:cNvSpPr>
            <a:spLocks noGrp="1"/>
          </p:cNvSpPr>
          <p:nvPr>
            <p:ph type="title"/>
          </p:nvPr>
        </p:nvSpPr>
        <p:spPr>
          <a:xfrm>
            <a:off x="2862942" y="947057"/>
            <a:ext cx="6172201" cy="762000"/>
          </a:xfrm>
        </p:spPr>
        <p:txBody>
          <a:bodyPr/>
          <a:lstStyle/>
          <a:p>
            <a:r>
              <a:rPr lang="en-US" b="1" dirty="0">
                <a:latin typeface="Times New Roman" panose="02020603050405020304" pitchFamily="18" charset="0"/>
                <a:cs typeface="Times New Roman" panose="02020603050405020304" pitchFamily="18" charset="0"/>
              </a:rPr>
              <a:t>CONCLUSION </a:t>
            </a:r>
          </a:p>
        </p:txBody>
      </p:sp>
      <p:sp>
        <p:nvSpPr>
          <p:cNvPr id="5" name="Content Placeholder 4">
            <a:extLst>
              <a:ext uri="{FF2B5EF4-FFF2-40B4-BE49-F238E27FC236}">
                <a16:creationId xmlns:a16="http://schemas.microsoft.com/office/drawing/2014/main" id="{AE9A0E13-36D0-B414-5C17-C04161B9DEAA}"/>
              </a:ext>
            </a:extLst>
          </p:cNvPr>
          <p:cNvSpPr>
            <a:spLocks noGrp="1"/>
          </p:cNvSpPr>
          <p:nvPr>
            <p:ph idx="1"/>
          </p:nvPr>
        </p:nvSpPr>
        <p:spPr>
          <a:xfrm>
            <a:off x="363794" y="1709057"/>
            <a:ext cx="11110451" cy="4312655"/>
          </a:xfrm>
        </p:spPr>
        <p:txBody>
          <a:bodyPr>
            <a:normAutofit/>
          </a:bodyPr>
          <a:lstStyle/>
          <a:p>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Based on the analysis, it can be concluded that the business is currently performing well in terms of revenue generation but faces significant challenges that may affect its future sustainability.</a:t>
            </a:r>
          </a:p>
          <a:p>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The declining sales trend is a major concern, indicating potential weaknesses in marketing, product strategy, or market positioning. </a:t>
            </a:r>
          </a:p>
          <a:p>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Additionally, the moderate customer satisfaction level suggests the need for improved service delivery. </a:t>
            </a:r>
          </a:p>
          <a:p>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Although the company benefits from a diversified brand portfolio and flexible payment options, the lack of a dominant product or brand limits its competitive advantage.</a:t>
            </a:r>
          </a:p>
          <a:p>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Overall, the business is profitable but strategically vulnerable, requiring immediate attention to sustain growth and improve performance</a:t>
            </a:r>
            <a:r>
              <a:rPr lang="en-US" sz="22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p:txBody>
      </p:sp>
      <p:sp>
        <p:nvSpPr>
          <p:cNvPr id="3" name="Rectangle 2">
            <a:extLst>
              <a:ext uri="{FF2B5EF4-FFF2-40B4-BE49-F238E27FC236}">
                <a16:creationId xmlns:a16="http://schemas.microsoft.com/office/drawing/2014/main" id="{378FD2A0-624D-9A3C-5670-AEEBF03761DB}"/>
              </a:ext>
            </a:extLst>
          </p:cNvPr>
          <p:cNvSpPr/>
          <p:nvPr/>
        </p:nvSpPr>
        <p:spPr>
          <a:xfrm>
            <a:off x="0" y="1"/>
            <a:ext cx="12192000" cy="762000"/>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6205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0520B-9C2E-D336-5687-514DB342D4C7}"/>
              </a:ext>
            </a:extLst>
          </p:cNvPr>
          <p:cNvSpPr>
            <a:spLocks noGrp="1"/>
          </p:cNvSpPr>
          <p:nvPr>
            <p:ph type="title"/>
          </p:nvPr>
        </p:nvSpPr>
        <p:spPr>
          <a:xfrm>
            <a:off x="3396343" y="634181"/>
            <a:ext cx="5627913" cy="976905"/>
          </a:xfrm>
        </p:spPr>
        <p:txBody>
          <a:bodyPr>
            <a:normAutofit/>
          </a:bodyPr>
          <a:lstStyle/>
          <a:p>
            <a:r>
              <a:rPr lang="en-US" sz="2800" b="1" dirty="0">
                <a:latin typeface="Times New Roman" panose="02020603050405020304" pitchFamily="18" charset="0"/>
                <a:cs typeface="Times New Roman" panose="02020603050405020304" pitchFamily="18" charset="0"/>
              </a:rPr>
              <a:t>RECOMENDATIONS</a:t>
            </a:r>
          </a:p>
        </p:txBody>
      </p:sp>
      <p:sp>
        <p:nvSpPr>
          <p:cNvPr id="3" name="Content Placeholder 2">
            <a:extLst>
              <a:ext uri="{FF2B5EF4-FFF2-40B4-BE49-F238E27FC236}">
                <a16:creationId xmlns:a16="http://schemas.microsoft.com/office/drawing/2014/main" id="{B15ABEBB-0C2F-5478-ECA3-FA1FE37FD2F0}"/>
              </a:ext>
            </a:extLst>
          </p:cNvPr>
          <p:cNvSpPr>
            <a:spLocks noGrp="1"/>
          </p:cNvSpPr>
          <p:nvPr>
            <p:ph idx="1"/>
          </p:nvPr>
        </p:nvSpPr>
        <p:spPr>
          <a:xfrm>
            <a:off x="469925" y="1861457"/>
            <a:ext cx="11252149" cy="4362362"/>
          </a:xfrm>
        </p:spPr>
        <p:txBody>
          <a:bodyPr>
            <a:noAutofit/>
          </a:bodyPr>
          <a:lstStyle/>
          <a:p>
            <a:pPr>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Based on the findings, the following recommendations are proposed</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1. Improve Sales Through Strategic Marketing</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2. Enhance Customer Satisfaction</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3. Focus on High-Performing Products</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4. Address Declining Sales Trend</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5. Leverage Flexible Payment Options</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6. Strengthen Brand Strategy</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7. Improve Data Utilization</a:t>
            </a:r>
          </a:p>
        </p:txBody>
      </p:sp>
      <p:sp>
        <p:nvSpPr>
          <p:cNvPr id="5" name="Rectangle 4">
            <a:extLst>
              <a:ext uri="{FF2B5EF4-FFF2-40B4-BE49-F238E27FC236}">
                <a16:creationId xmlns:a16="http://schemas.microsoft.com/office/drawing/2014/main" id="{81D3EE10-C564-7675-355B-E6C78D2E62C1}"/>
              </a:ext>
            </a:extLst>
          </p:cNvPr>
          <p:cNvSpPr/>
          <p:nvPr/>
        </p:nvSpPr>
        <p:spPr>
          <a:xfrm>
            <a:off x="1" y="0"/>
            <a:ext cx="12192000" cy="634181"/>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8620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1694</TotalTime>
  <Words>601</Words>
  <Application>Microsoft Office PowerPoint</Application>
  <PresentationFormat>Widescreen</PresentationFormat>
  <Paragraphs>59</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Wingdings</vt:lpstr>
      <vt:lpstr>Office Theme</vt:lpstr>
      <vt:lpstr>                              Sythentic Mobile Phone Store Sales Analysis And Consumer Buying Trends  </vt:lpstr>
      <vt:lpstr>  </vt:lpstr>
      <vt:lpstr>    </vt:lpstr>
      <vt:lpstr>ABOUT THE DATASET</vt:lpstr>
      <vt:lpstr>  Problem Statement  </vt:lpstr>
      <vt:lpstr>    AIM AND OBJECTIVES OF THE STUDY</vt:lpstr>
      <vt:lpstr>            Research Questions</vt:lpstr>
      <vt:lpstr>PowerPoint Presentation</vt:lpstr>
      <vt:lpstr>PowerPoint Presentation</vt:lpstr>
      <vt:lpstr>PowerPoint Presentation</vt:lpstr>
      <vt:lpstr>PowerPoint Presentation</vt:lpstr>
      <vt:lpstr>PowerPoint Presentation</vt:lpstr>
      <vt:lpstr>PowerPoint Presentation</vt:lpstr>
      <vt:lpstr>CONCLUSION </vt:lpstr>
      <vt:lpstr>RECOMENDATIONS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oluwatobiodedeyi@gmail.com</dc:creator>
  <cp:lastModifiedBy>DELL</cp:lastModifiedBy>
  <cp:revision>22</cp:revision>
  <dcterms:created xsi:type="dcterms:W3CDTF">2026-03-16T05:34:07Z</dcterms:created>
  <dcterms:modified xsi:type="dcterms:W3CDTF">2026-08-22T20:49:29Z</dcterms:modified>
</cp:coreProperties>
</file>