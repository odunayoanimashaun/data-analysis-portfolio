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9" r:id="rId1"/>
  </p:sldMasterIdLst>
  <p:notesMasterIdLst>
    <p:notesMasterId r:id="rId17"/>
  </p:notesMasterIdLst>
  <p:sldIdLst>
    <p:sldId id="256" r:id="rId2"/>
    <p:sldId id="272" r:id="rId3"/>
    <p:sldId id="257" r:id="rId4"/>
    <p:sldId id="258" r:id="rId5"/>
    <p:sldId id="274" r:id="rId6"/>
    <p:sldId id="259" r:id="rId7"/>
    <p:sldId id="263" r:id="rId8"/>
    <p:sldId id="270" r:id="rId9"/>
    <p:sldId id="264" r:id="rId10"/>
    <p:sldId id="265" r:id="rId11"/>
    <p:sldId id="266" r:id="rId12"/>
    <p:sldId id="268" r:id="rId13"/>
    <p:sldId id="271" r:id="rId14"/>
    <p:sldId id="261" r:id="rId15"/>
    <p:sldId id="262"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D4B7A5AF-72F5-4DD7-B636-48B46028E9C9}">
          <p14:sldIdLst>
            <p14:sldId id="256"/>
            <p14:sldId id="272"/>
            <p14:sldId id="257"/>
            <p14:sldId id="258"/>
            <p14:sldId id="274"/>
            <p14:sldId id="259"/>
            <p14:sldId id="263"/>
            <p14:sldId id="270"/>
            <p14:sldId id="264"/>
            <p14:sldId id="265"/>
            <p14:sldId id="266"/>
            <p14:sldId id="268"/>
            <p14:sldId id="271"/>
            <p14:sldId id="261"/>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786" autoAdjust="0"/>
    <p:restoredTop sz="93447" autoAdjust="0"/>
  </p:normalViewPr>
  <p:slideViewPr>
    <p:cSldViewPr snapToGrid="0">
      <p:cViewPr varScale="1">
        <p:scale>
          <a:sx n="63" d="100"/>
          <a:sy n="63" d="100"/>
        </p:scale>
        <p:origin x="81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23141F-F3F4-4EDC-B9CB-CA548B4047C1}" type="datetimeFigureOut">
              <a:rPr lang="en-US" smtClean="0"/>
              <a:t>8/22/2026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2D30FD-B967-46D6-9D26-3E49B60F2BA8}" type="slidenum">
              <a:rPr lang="en-US" smtClean="0"/>
              <a:t>‹#›</a:t>
            </a:fld>
            <a:endParaRPr lang="en-US"/>
          </a:p>
        </p:txBody>
      </p:sp>
    </p:spTree>
    <p:extLst>
      <p:ext uri="{BB962C8B-B14F-4D97-AF65-F5344CB8AC3E}">
        <p14:creationId xmlns:p14="http://schemas.microsoft.com/office/powerpoint/2010/main" val="12629383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2D30FD-B967-46D6-9D26-3E49B60F2BA8}" type="slidenum">
              <a:rPr lang="en-US" smtClean="0"/>
              <a:t>1</a:t>
            </a:fld>
            <a:endParaRPr lang="en-US"/>
          </a:p>
        </p:txBody>
      </p:sp>
    </p:spTree>
    <p:extLst>
      <p:ext uri="{BB962C8B-B14F-4D97-AF65-F5344CB8AC3E}">
        <p14:creationId xmlns:p14="http://schemas.microsoft.com/office/powerpoint/2010/main" val="26388852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38BB64-A7B6-92F2-F23A-2C61C50F06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EFC8A6-F8F6-30EE-9703-1687763FD7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9CEC83-C96C-D009-3EA5-9C1A58D758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9B440FE-5342-C7EB-9E5F-0F257406B55D}"/>
              </a:ext>
            </a:extLst>
          </p:cNvPr>
          <p:cNvSpPr>
            <a:spLocks noGrp="1"/>
          </p:cNvSpPr>
          <p:nvPr>
            <p:ph type="sldNum" sz="quarter" idx="5"/>
          </p:nvPr>
        </p:nvSpPr>
        <p:spPr/>
        <p:txBody>
          <a:bodyPr/>
          <a:lstStyle/>
          <a:p>
            <a:fld id="{282D30FD-B967-46D6-9D26-3E49B60F2BA8}" type="slidenum">
              <a:rPr lang="en-US" smtClean="0"/>
              <a:t>3</a:t>
            </a:fld>
            <a:endParaRPr lang="en-US"/>
          </a:p>
        </p:txBody>
      </p:sp>
    </p:spTree>
    <p:extLst>
      <p:ext uri="{BB962C8B-B14F-4D97-AF65-F5344CB8AC3E}">
        <p14:creationId xmlns:p14="http://schemas.microsoft.com/office/powerpoint/2010/main" val="39785645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8/22/2026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7094426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8/22/2026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660183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8/22/2026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1433995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pPr/>
              <a:t>8/22/2026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9607325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pPr/>
              <a:t>8/22/2026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4437359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8/22/2026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171772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8A87A34-81AB-432B-8DAE-1953F412C126}" type="datetimeFigureOut">
              <a:rPr lang="en-US" smtClean="0"/>
              <a:t>8/22/2026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753469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8/22/2026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1186337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8/22/2026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9015511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8/22/2026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125358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8/22/2026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6678701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8/22/2026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6135440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8/22/2026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6495539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pPr/>
              <a:t>8/22/2026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7834693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pPr/>
              <a:t>8/22/2026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0642451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8/22/2026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6449062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8/22/2026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646089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8A87A34-81AB-432B-8DAE-1953F412C126}" type="datetimeFigureOut">
              <a:rPr lang="en-US" smtClean="0"/>
              <a:pPr/>
              <a:t>8/22/2026</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163483962"/>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 id="2147483713" r:id="rId14"/>
    <p:sldLayoutId id="2147483714" r:id="rId15"/>
    <p:sldLayoutId id="2147483715" r:id="rId16"/>
    <p:sldLayoutId id="2147483716"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C9AA22E-F537-82D9-7C4A-EC84DB4702CC}"/>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25666915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B91FA4-9420-73D9-38DF-8E7B6241DC57}"/>
              </a:ext>
            </a:extLst>
          </p:cNvPr>
          <p:cNvSpPr>
            <a:spLocks noGrp="1"/>
          </p:cNvSpPr>
          <p:nvPr>
            <p:ph sz="quarter" idx="13"/>
          </p:nvPr>
        </p:nvSpPr>
        <p:spPr>
          <a:xfrm>
            <a:off x="913774" y="1611086"/>
            <a:ext cx="10363826" cy="4180114"/>
          </a:xfrm>
        </p:spPr>
        <p:txBody>
          <a:bodyPr>
            <a:normAutofit fontScale="92500" lnSpcReduction="10000"/>
          </a:bodyPr>
          <a:lstStyle/>
          <a:p>
            <a:r>
              <a:rPr lang="en-US" sz="2400" b="1" dirty="0">
                <a:solidFill>
                  <a:srgbClr val="002060"/>
                </a:solidFill>
                <a:latin typeface="Times New Roman" panose="02020603050405020304" pitchFamily="18" charset="0"/>
                <a:cs typeface="Times New Roman" panose="02020603050405020304" pitchFamily="18" charset="0"/>
              </a:rPr>
              <a:t>Introduction</a:t>
            </a:r>
          </a:p>
          <a:p>
            <a:r>
              <a:rPr lang="en-US" sz="2400" b="1" dirty="0">
                <a:solidFill>
                  <a:srgbClr val="002060"/>
                </a:solidFill>
                <a:latin typeface="Times New Roman" panose="02020603050405020304" pitchFamily="18" charset="0"/>
                <a:cs typeface="Times New Roman" panose="02020603050405020304" pitchFamily="18" charset="0"/>
              </a:rPr>
              <a:t>About the Dataset</a:t>
            </a:r>
          </a:p>
          <a:p>
            <a:r>
              <a:rPr lang="en-US" sz="2400" b="1" dirty="0">
                <a:solidFill>
                  <a:srgbClr val="002060"/>
                </a:solidFill>
                <a:latin typeface="Times New Roman" panose="02020603050405020304" pitchFamily="18" charset="0"/>
                <a:cs typeface="Times New Roman" panose="02020603050405020304" pitchFamily="18" charset="0"/>
              </a:rPr>
              <a:t>Problem Statement</a:t>
            </a:r>
          </a:p>
          <a:p>
            <a:r>
              <a:rPr lang="en-US" sz="2400" b="1" dirty="0">
                <a:solidFill>
                  <a:srgbClr val="002060"/>
                </a:solidFill>
                <a:latin typeface="Times New Roman" panose="02020603050405020304" pitchFamily="18" charset="0"/>
                <a:cs typeface="Times New Roman" panose="02020603050405020304" pitchFamily="18" charset="0"/>
              </a:rPr>
              <a:t>Aim and Objectives</a:t>
            </a:r>
          </a:p>
          <a:p>
            <a:r>
              <a:rPr lang="en-US" sz="2400" b="1" dirty="0">
                <a:solidFill>
                  <a:srgbClr val="002060"/>
                </a:solidFill>
                <a:latin typeface="Times New Roman" panose="02020603050405020304" pitchFamily="18" charset="0"/>
                <a:cs typeface="Times New Roman" panose="02020603050405020304" pitchFamily="18" charset="0"/>
              </a:rPr>
              <a:t>Research Questions</a:t>
            </a:r>
          </a:p>
          <a:p>
            <a:r>
              <a:rPr lang="en-US" sz="2400" b="1" dirty="0">
                <a:solidFill>
                  <a:srgbClr val="002060"/>
                </a:solidFill>
                <a:latin typeface="Times New Roman" panose="02020603050405020304" pitchFamily="18" charset="0"/>
                <a:cs typeface="Times New Roman" panose="02020603050405020304" pitchFamily="18" charset="0"/>
              </a:rPr>
              <a:t>Charts and Visualizations</a:t>
            </a:r>
          </a:p>
          <a:p>
            <a:r>
              <a:rPr lang="en-US" sz="2400" b="1" dirty="0">
                <a:solidFill>
                  <a:srgbClr val="002060"/>
                </a:solidFill>
                <a:latin typeface="Times New Roman" panose="02020603050405020304" pitchFamily="18" charset="0"/>
                <a:cs typeface="Times New Roman" panose="02020603050405020304" pitchFamily="18" charset="0"/>
              </a:rPr>
              <a:t>summary</a:t>
            </a:r>
          </a:p>
          <a:p>
            <a:r>
              <a:rPr lang="en-US" sz="2400" b="1" dirty="0">
                <a:solidFill>
                  <a:srgbClr val="002060"/>
                </a:solidFill>
                <a:latin typeface="Times New Roman" panose="02020603050405020304" pitchFamily="18" charset="0"/>
                <a:cs typeface="Times New Roman" panose="02020603050405020304" pitchFamily="18" charset="0"/>
              </a:rPr>
              <a:t>Recommendation</a:t>
            </a:r>
          </a:p>
          <a:p>
            <a:pPr marL="0" indent="0">
              <a:buNone/>
            </a:pPr>
            <a:endParaRPr lang="en-US" dirty="0">
              <a:solidFill>
                <a:srgbClr val="0070C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6BEC8FE3-7E28-61FC-0C67-B92075B2C6EF}"/>
              </a:ext>
            </a:extLst>
          </p:cNvPr>
          <p:cNvSpPr txBox="1"/>
          <p:nvPr/>
        </p:nvSpPr>
        <p:spPr>
          <a:xfrm>
            <a:off x="990600" y="489858"/>
            <a:ext cx="8392886" cy="754053"/>
          </a:xfrm>
          <a:prstGeom prst="rect">
            <a:avLst/>
          </a:prstGeom>
          <a:noFill/>
        </p:spPr>
        <p:txBody>
          <a:bodyPr wrap="square" rtlCol="0">
            <a:spAutoFit/>
          </a:bodyPr>
          <a:lstStyle/>
          <a:p>
            <a:r>
              <a:rPr lang="en-US" sz="4300" b="1" dirty="0">
                <a:solidFill>
                  <a:srgbClr val="002060"/>
                </a:solidFill>
                <a:latin typeface="Times New Roman" panose="02020603050405020304" pitchFamily="18" charset="0"/>
                <a:cs typeface="Times New Roman" panose="02020603050405020304" pitchFamily="18" charset="0"/>
              </a:rPr>
              <a:t>             PROJECT OUTLINE </a:t>
            </a:r>
          </a:p>
        </p:txBody>
      </p:sp>
      <p:sp>
        <p:nvSpPr>
          <p:cNvPr id="2" name="Rectangle 1">
            <a:extLst>
              <a:ext uri="{FF2B5EF4-FFF2-40B4-BE49-F238E27FC236}">
                <a16:creationId xmlns:a16="http://schemas.microsoft.com/office/drawing/2014/main" id="{455F99E8-0E47-A310-5817-B1EC6C3C878A}"/>
              </a:ext>
            </a:extLst>
          </p:cNvPr>
          <p:cNvSpPr/>
          <p:nvPr/>
        </p:nvSpPr>
        <p:spPr>
          <a:xfrm>
            <a:off x="0" y="0"/>
            <a:ext cx="913774" cy="685800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999571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243F1-9BDE-B2DF-D1C1-B648D033A5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6F2EB2-BD3F-93CE-6F8D-09A231A9CD75}"/>
              </a:ext>
            </a:extLst>
          </p:cNvPr>
          <p:cNvSpPr>
            <a:spLocks noGrp="1"/>
          </p:cNvSpPr>
          <p:nvPr>
            <p:ph type="ctrTitle"/>
          </p:nvPr>
        </p:nvSpPr>
        <p:spPr>
          <a:xfrm>
            <a:off x="1751012" y="696686"/>
            <a:ext cx="8002588" cy="729344"/>
          </a:xfrm>
        </p:spPr>
        <p:txBody>
          <a:bodyPr>
            <a:normAutofit fontScale="90000"/>
          </a:bodyPr>
          <a:lstStyle/>
          <a:p>
            <a:r>
              <a:rPr lang="en-US" b="1" dirty="0">
                <a:solidFill>
                  <a:srgbClr val="002060"/>
                </a:solidFill>
                <a:latin typeface="Times New Roman" panose="02020603050405020304" pitchFamily="18" charset="0"/>
                <a:cs typeface="Times New Roman" panose="02020603050405020304" pitchFamily="18" charset="0"/>
              </a:rPr>
              <a:t>introduction</a:t>
            </a:r>
          </a:p>
        </p:txBody>
      </p:sp>
      <p:sp>
        <p:nvSpPr>
          <p:cNvPr id="3" name="Subtitle 2">
            <a:extLst>
              <a:ext uri="{FF2B5EF4-FFF2-40B4-BE49-F238E27FC236}">
                <a16:creationId xmlns:a16="http://schemas.microsoft.com/office/drawing/2014/main" id="{221357F4-9876-BE25-6088-ADA7F2EB7FA2}"/>
              </a:ext>
            </a:extLst>
          </p:cNvPr>
          <p:cNvSpPr>
            <a:spLocks noGrp="1"/>
          </p:cNvSpPr>
          <p:nvPr>
            <p:ph type="subTitle" idx="1"/>
          </p:nvPr>
        </p:nvSpPr>
        <p:spPr>
          <a:xfrm>
            <a:off x="1034142" y="1741714"/>
            <a:ext cx="10025744" cy="3516086"/>
          </a:xfrm>
        </p:spPr>
        <p:txBody>
          <a:bodyPr>
            <a:normAutofit/>
          </a:bodyPr>
          <a:lstStyle/>
          <a:p>
            <a:pPr algn="just"/>
            <a:r>
              <a:rPr lang="en-US" cap="none" dirty="0">
                <a:solidFill>
                  <a:srgbClr val="002060"/>
                </a:solidFill>
                <a:latin typeface="Times New Roman" panose="02020603050405020304" pitchFamily="18" charset="0"/>
                <a:cs typeface="Times New Roman" panose="02020603050405020304" pitchFamily="18" charset="0"/>
              </a:rPr>
              <a:t>This project focuses on analyzing retail data from a superstore data using power bi to understand sales</a:t>
            </a:r>
          </a:p>
          <a:p>
            <a:pPr algn="just"/>
            <a:r>
              <a:rPr lang="en-US" cap="none" dirty="0">
                <a:solidFill>
                  <a:srgbClr val="002060"/>
                </a:solidFill>
                <a:latin typeface="Times New Roman" panose="02020603050405020304" pitchFamily="18" charset="0"/>
                <a:cs typeface="Times New Roman" panose="02020603050405020304" pitchFamily="18" charset="0"/>
              </a:rPr>
              <a:t>Performance , profitability and customer behavior with the goal of supporting better business decisions</a:t>
            </a:r>
          </a:p>
          <a:p>
            <a:pPr algn="just"/>
            <a:r>
              <a:rPr lang="en-US" cap="none" dirty="0">
                <a:solidFill>
                  <a:srgbClr val="002060"/>
                </a:solidFill>
                <a:latin typeface="Times New Roman" panose="02020603050405020304" pitchFamily="18" charset="0"/>
                <a:cs typeface="Times New Roman" panose="02020603050405020304" pitchFamily="18" charset="0"/>
              </a:rPr>
              <a:t>The goal is to uncover key insight that can drive better business performance</a:t>
            </a:r>
          </a:p>
        </p:txBody>
      </p:sp>
      <p:sp>
        <p:nvSpPr>
          <p:cNvPr id="4" name="Rectangle 3">
            <a:extLst>
              <a:ext uri="{FF2B5EF4-FFF2-40B4-BE49-F238E27FC236}">
                <a16:creationId xmlns:a16="http://schemas.microsoft.com/office/drawing/2014/main" id="{F63CE1A6-F78B-9BD1-BFAC-D92AC8B21A4A}"/>
              </a:ext>
            </a:extLst>
          </p:cNvPr>
          <p:cNvSpPr/>
          <p:nvPr/>
        </p:nvSpPr>
        <p:spPr>
          <a:xfrm>
            <a:off x="0" y="0"/>
            <a:ext cx="12192000" cy="729344"/>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276544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7A379-598B-C327-353D-DFB38D182040}"/>
              </a:ext>
            </a:extLst>
          </p:cNvPr>
          <p:cNvSpPr>
            <a:spLocks noGrp="1"/>
          </p:cNvSpPr>
          <p:nvPr>
            <p:ph type="title"/>
          </p:nvPr>
        </p:nvSpPr>
        <p:spPr>
          <a:xfrm>
            <a:off x="913775" y="618517"/>
            <a:ext cx="10364451" cy="1144969"/>
          </a:xfrm>
        </p:spPr>
        <p:txBody>
          <a:bodyPr/>
          <a:lstStyle/>
          <a:p>
            <a:r>
              <a:rPr lang="en-US" b="1" dirty="0">
                <a:solidFill>
                  <a:srgbClr val="002060"/>
                </a:solidFill>
                <a:latin typeface="Times New Roman" panose="02020603050405020304" pitchFamily="18" charset="0"/>
                <a:cs typeface="Times New Roman" panose="02020603050405020304" pitchFamily="18" charset="0"/>
              </a:rPr>
              <a:t>About the dataset</a:t>
            </a:r>
          </a:p>
        </p:txBody>
      </p:sp>
      <p:sp>
        <p:nvSpPr>
          <p:cNvPr id="3" name="Content Placeholder 2">
            <a:extLst>
              <a:ext uri="{FF2B5EF4-FFF2-40B4-BE49-F238E27FC236}">
                <a16:creationId xmlns:a16="http://schemas.microsoft.com/office/drawing/2014/main" id="{2203F368-4E22-BBF4-4097-770CB48093D6}"/>
              </a:ext>
            </a:extLst>
          </p:cNvPr>
          <p:cNvSpPr>
            <a:spLocks noGrp="1"/>
          </p:cNvSpPr>
          <p:nvPr>
            <p:ph sz="quarter" idx="13"/>
          </p:nvPr>
        </p:nvSpPr>
        <p:spPr>
          <a:xfrm>
            <a:off x="913774" y="1905001"/>
            <a:ext cx="10363826" cy="3363686"/>
          </a:xfrm>
        </p:spPr>
        <p:txBody>
          <a:bodyPr>
            <a:normAutofit/>
          </a:bodyPr>
          <a:lstStyle/>
          <a:p>
            <a:pPr marL="0" indent="0" algn="just">
              <a:buNone/>
            </a:pPr>
            <a:r>
              <a:rPr lang="en-US" cap="none" dirty="0">
                <a:solidFill>
                  <a:srgbClr val="002060"/>
                </a:solidFill>
                <a:latin typeface="Times New Roman" panose="02020603050405020304" pitchFamily="18" charset="0"/>
                <a:cs typeface="Times New Roman" panose="02020603050405020304" pitchFamily="18" charset="0"/>
              </a:rPr>
              <a:t>The dataset used for this project is a superstore dataset, which contains retail transaction data from A company based in united state.</a:t>
            </a:r>
          </a:p>
          <a:p>
            <a:pPr marL="0" indent="0" algn="just">
              <a:buNone/>
            </a:pPr>
            <a:r>
              <a:rPr lang="en-US" cap="none" dirty="0">
                <a:solidFill>
                  <a:srgbClr val="002060"/>
                </a:solidFill>
                <a:latin typeface="Times New Roman" panose="02020603050405020304" pitchFamily="18" charset="0"/>
                <a:cs typeface="Times New Roman" panose="02020603050405020304" pitchFamily="18" charset="0"/>
              </a:rPr>
              <a:t>It covers key product category of furniture , office supplies,  technology </a:t>
            </a:r>
          </a:p>
          <a:p>
            <a:pPr marL="0" indent="0" algn="just">
              <a:buNone/>
            </a:pPr>
            <a:r>
              <a:rPr lang="en-US" cap="none" dirty="0">
                <a:solidFill>
                  <a:srgbClr val="002060"/>
                </a:solidFill>
                <a:latin typeface="Times New Roman" panose="02020603050405020304" pitchFamily="18" charset="0"/>
                <a:cs typeface="Times New Roman" panose="02020603050405020304" pitchFamily="18" charset="0"/>
              </a:rPr>
              <a:t>The dataset includes important variables like sales , profit  , discounts, product categories and geographic regions over a specific period of time</a:t>
            </a:r>
          </a:p>
          <a:p>
            <a:pPr marL="0" indent="0" algn="just">
              <a:buNone/>
            </a:pPr>
            <a:r>
              <a:rPr lang="en-US" cap="none" dirty="0">
                <a:solidFill>
                  <a:srgbClr val="002060"/>
                </a:solidFill>
                <a:latin typeface="Times New Roman" panose="02020603050405020304" pitchFamily="18" charset="0"/>
                <a:cs typeface="Times New Roman" panose="02020603050405020304" pitchFamily="18" charset="0"/>
              </a:rPr>
              <a:t>The dataset enables the analysis of  overall business performance , customer behavior and profitability trends</a:t>
            </a:r>
          </a:p>
        </p:txBody>
      </p:sp>
      <p:sp>
        <p:nvSpPr>
          <p:cNvPr id="5" name="Rectangle 4">
            <a:extLst>
              <a:ext uri="{FF2B5EF4-FFF2-40B4-BE49-F238E27FC236}">
                <a16:creationId xmlns:a16="http://schemas.microsoft.com/office/drawing/2014/main" id="{3C3F6992-943E-2B5A-49FE-6A03ABC55758}"/>
              </a:ext>
            </a:extLst>
          </p:cNvPr>
          <p:cNvSpPr/>
          <p:nvPr/>
        </p:nvSpPr>
        <p:spPr>
          <a:xfrm>
            <a:off x="0" y="0"/>
            <a:ext cx="12192000" cy="729344"/>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927250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EF88E-1409-34CB-9E79-E045DAC0AD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CD780F-97DB-4F48-8FF5-327F3E2512D5}"/>
              </a:ext>
            </a:extLst>
          </p:cNvPr>
          <p:cNvSpPr>
            <a:spLocks noGrp="1"/>
          </p:cNvSpPr>
          <p:nvPr>
            <p:ph type="title"/>
          </p:nvPr>
        </p:nvSpPr>
        <p:spPr/>
        <p:txBody>
          <a:bodyPr/>
          <a:lstStyle/>
          <a:p>
            <a:r>
              <a:rPr lang="en-US" b="1" dirty="0">
                <a:solidFill>
                  <a:srgbClr val="002060"/>
                </a:solidFill>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520761D6-A474-2F43-B4B1-AE6EAB885103}"/>
              </a:ext>
            </a:extLst>
          </p:cNvPr>
          <p:cNvSpPr>
            <a:spLocks noGrp="1"/>
          </p:cNvSpPr>
          <p:nvPr>
            <p:ph sz="quarter" idx="13"/>
          </p:nvPr>
        </p:nvSpPr>
        <p:spPr>
          <a:xfrm>
            <a:off x="913774" y="1844577"/>
            <a:ext cx="11016969" cy="3424107"/>
          </a:xfrm>
        </p:spPr>
        <p:txBody>
          <a:bodyPr>
            <a:normAutofit/>
          </a:bodyPr>
          <a:lstStyle/>
          <a:p>
            <a:pPr marL="0" indent="0" algn="just">
              <a:buNone/>
            </a:pPr>
            <a:r>
              <a:rPr lang="en-US" cap="none" dirty="0">
                <a:solidFill>
                  <a:srgbClr val="002060"/>
                </a:solidFill>
                <a:latin typeface="Times New Roman" panose="02020603050405020304" pitchFamily="18" charset="0"/>
                <a:cs typeface="Times New Roman" panose="02020603050405020304" pitchFamily="18" charset="0"/>
              </a:rPr>
              <a:t> </a:t>
            </a:r>
            <a:r>
              <a:rPr lang="en-US" sz="2400" cap="none" dirty="0">
                <a:solidFill>
                  <a:srgbClr val="002060"/>
                </a:solidFill>
                <a:latin typeface="Times New Roman" panose="02020603050405020304" pitchFamily="18" charset="0"/>
                <a:cs typeface="Times New Roman" panose="02020603050405020304" pitchFamily="18" charset="0"/>
              </a:rPr>
              <a:t>Despite recording high sales volumes, many retail businesses struggle to achieve consistent and sustainable profitability. This challenge often arises from factors such as excessive discounting, poor product performance, inefficient </a:t>
            </a:r>
            <a:r>
              <a:rPr lang="en-US" sz="2400" cap="none">
                <a:solidFill>
                  <a:srgbClr val="002060"/>
                </a:solidFill>
                <a:latin typeface="Times New Roman" panose="02020603050405020304" pitchFamily="18" charset="0"/>
                <a:cs typeface="Times New Roman" panose="02020603050405020304" pitchFamily="18" charset="0"/>
              </a:rPr>
              <a:t>regional strategies.</a:t>
            </a:r>
            <a:endParaRPr lang="en-US" sz="2400" cap="none" dirty="0">
              <a:solidFill>
                <a:srgbClr val="002060"/>
              </a:solidFill>
              <a:latin typeface="Times New Roman" panose="02020603050405020304" pitchFamily="18" charset="0"/>
              <a:cs typeface="Times New Roman" panose="02020603050405020304" pitchFamily="18" charset="0"/>
            </a:endParaRPr>
          </a:p>
          <a:p>
            <a:pPr marL="0" indent="0" algn="just">
              <a:buNone/>
            </a:pPr>
            <a:r>
              <a:rPr lang="en-US" sz="2400" cap="none" dirty="0">
                <a:solidFill>
                  <a:srgbClr val="002060"/>
                </a:solidFill>
                <a:latin typeface="Times New Roman" panose="02020603050405020304" pitchFamily="18" charset="0"/>
                <a:cs typeface="Times New Roman" panose="02020603050405020304" pitchFamily="18" charset="0"/>
              </a:rPr>
              <a:t>In the case of the superstore dataset, there is evidence that while certain products and regions generate significant sales, they do not contribute proportionately to profit. In some instances, products are sold at very low margins or even at a loss due to high discount levels.</a:t>
            </a:r>
          </a:p>
        </p:txBody>
      </p:sp>
      <p:sp>
        <p:nvSpPr>
          <p:cNvPr id="5" name="Rectangle 4">
            <a:extLst>
              <a:ext uri="{FF2B5EF4-FFF2-40B4-BE49-F238E27FC236}">
                <a16:creationId xmlns:a16="http://schemas.microsoft.com/office/drawing/2014/main" id="{C6A40FCA-ABEE-9FAB-1988-51C078FF104B}"/>
              </a:ext>
            </a:extLst>
          </p:cNvPr>
          <p:cNvSpPr/>
          <p:nvPr/>
        </p:nvSpPr>
        <p:spPr>
          <a:xfrm>
            <a:off x="0" y="0"/>
            <a:ext cx="12192000" cy="729344"/>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382349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16EAB-CC8F-5295-4C96-2F855646D8BA}"/>
              </a:ext>
            </a:extLst>
          </p:cNvPr>
          <p:cNvSpPr>
            <a:spLocks noGrp="1"/>
          </p:cNvSpPr>
          <p:nvPr>
            <p:ph type="title"/>
          </p:nvPr>
        </p:nvSpPr>
        <p:spPr>
          <a:xfrm>
            <a:off x="141515" y="402771"/>
            <a:ext cx="11136712" cy="968829"/>
          </a:xfrm>
        </p:spPr>
        <p:txBody>
          <a:bodyPr>
            <a:normAutofit fontScale="90000"/>
          </a:bodyPr>
          <a:lstStyle/>
          <a:p>
            <a:br>
              <a:rPr lang="en-US" b="1" dirty="0">
                <a:solidFill>
                  <a:srgbClr val="002060"/>
                </a:solidFill>
                <a:latin typeface="Times New Roman" panose="02020603050405020304" pitchFamily="18" charset="0"/>
                <a:cs typeface="Times New Roman" panose="02020603050405020304" pitchFamily="18" charset="0"/>
              </a:rPr>
            </a:br>
            <a:r>
              <a:rPr lang="en-US" b="1" dirty="0">
                <a:solidFill>
                  <a:srgbClr val="002060"/>
                </a:solidFill>
                <a:latin typeface="Times New Roman" panose="02020603050405020304" pitchFamily="18" charset="0"/>
                <a:cs typeface="Times New Roman" panose="02020603050405020304" pitchFamily="18" charset="0"/>
              </a:rPr>
              <a:t>Aim and objectives</a:t>
            </a:r>
          </a:p>
        </p:txBody>
      </p:sp>
      <p:sp>
        <p:nvSpPr>
          <p:cNvPr id="3" name="Content Placeholder 2">
            <a:extLst>
              <a:ext uri="{FF2B5EF4-FFF2-40B4-BE49-F238E27FC236}">
                <a16:creationId xmlns:a16="http://schemas.microsoft.com/office/drawing/2014/main" id="{0AFA2F8E-1F5D-813A-366B-F52A1523742B}"/>
              </a:ext>
            </a:extLst>
          </p:cNvPr>
          <p:cNvSpPr>
            <a:spLocks noGrp="1"/>
          </p:cNvSpPr>
          <p:nvPr>
            <p:ph sz="quarter" idx="13"/>
          </p:nvPr>
        </p:nvSpPr>
        <p:spPr>
          <a:xfrm>
            <a:off x="913773" y="1284514"/>
            <a:ext cx="10364451" cy="5072742"/>
          </a:xfrm>
        </p:spPr>
        <p:txBody>
          <a:bodyPr/>
          <a:lstStyle/>
          <a:p>
            <a:pPr marL="0" indent="0">
              <a:buNone/>
            </a:pPr>
            <a:r>
              <a:rPr lang="en-US" dirty="0">
                <a:solidFill>
                  <a:srgbClr val="002060"/>
                </a:solidFill>
                <a:latin typeface="Times New Roman" panose="02020603050405020304" pitchFamily="18" charset="0"/>
                <a:cs typeface="Times New Roman" panose="02020603050405020304" pitchFamily="18" charset="0"/>
              </a:rPr>
              <a:t>   </a:t>
            </a:r>
            <a:r>
              <a:rPr lang="en-US" cap="none" dirty="0">
                <a:solidFill>
                  <a:srgbClr val="002060"/>
                </a:solidFill>
                <a:latin typeface="Times New Roman" panose="02020603050405020304" pitchFamily="18" charset="0"/>
                <a:cs typeface="Times New Roman" panose="02020603050405020304" pitchFamily="18" charset="0"/>
              </a:rPr>
              <a:t>The aim of this project is to analyze  sales, profit and to evaluate overall business performance</a:t>
            </a:r>
            <a:endParaRPr lang="en-US" dirty="0">
              <a:solidFill>
                <a:srgbClr val="002060"/>
              </a:solidFill>
              <a:latin typeface="Times New Roman" panose="02020603050405020304" pitchFamily="18" charset="0"/>
              <a:cs typeface="Times New Roman" panose="02020603050405020304" pitchFamily="18" charset="0"/>
            </a:endParaRPr>
          </a:p>
          <a:p>
            <a:pPr marL="0" indent="0">
              <a:buNone/>
            </a:pPr>
            <a:r>
              <a:rPr lang="en-US" b="1" dirty="0">
                <a:solidFill>
                  <a:srgbClr val="002060"/>
                </a:solidFill>
                <a:latin typeface="Times New Roman" panose="02020603050405020304" pitchFamily="18" charset="0"/>
                <a:cs typeface="Times New Roman" panose="02020603050405020304" pitchFamily="18" charset="0"/>
              </a:rPr>
              <a:t>Objectives</a:t>
            </a:r>
          </a:p>
          <a:p>
            <a:r>
              <a:rPr lang="en-US" cap="none" dirty="0">
                <a:solidFill>
                  <a:srgbClr val="002060"/>
                </a:solidFill>
              </a:rPr>
              <a:t>T</a:t>
            </a:r>
            <a:r>
              <a:rPr lang="en-US" cap="none" dirty="0">
                <a:solidFill>
                  <a:srgbClr val="002060"/>
                </a:solidFill>
                <a:latin typeface="Times New Roman" panose="02020603050405020304" pitchFamily="18" charset="0"/>
                <a:cs typeface="Times New Roman" panose="02020603050405020304" pitchFamily="18" charset="0"/>
              </a:rPr>
              <a:t>o identify top-performing products and regions</a:t>
            </a:r>
          </a:p>
          <a:p>
            <a:r>
              <a:rPr lang="en-US" cap="none" dirty="0">
                <a:solidFill>
                  <a:srgbClr val="002060"/>
                </a:solidFill>
                <a:latin typeface="Times New Roman" panose="02020603050405020304" pitchFamily="18" charset="0"/>
                <a:cs typeface="Times New Roman" panose="02020603050405020304" pitchFamily="18" charset="0"/>
              </a:rPr>
              <a:t>To examine the impact of discounts on profitability</a:t>
            </a:r>
          </a:p>
          <a:p>
            <a:r>
              <a:rPr lang="en-US" cap="none" dirty="0">
                <a:solidFill>
                  <a:srgbClr val="002060"/>
                </a:solidFill>
                <a:latin typeface="Times New Roman" panose="02020603050405020304" pitchFamily="18" charset="0"/>
                <a:cs typeface="Times New Roman" panose="02020603050405020304" pitchFamily="18" charset="0"/>
              </a:rPr>
              <a:t>To evaluate sales trends over time</a:t>
            </a:r>
          </a:p>
        </p:txBody>
      </p:sp>
      <p:sp>
        <p:nvSpPr>
          <p:cNvPr id="5" name="Rectangle 4">
            <a:extLst>
              <a:ext uri="{FF2B5EF4-FFF2-40B4-BE49-F238E27FC236}">
                <a16:creationId xmlns:a16="http://schemas.microsoft.com/office/drawing/2014/main" id="{3D06452F-DCFD-F840-738E-47CA155DEA52}"/>
              </a:ext>
            </a:extLst>
          </p:cNvPr>
          <p:cNvSpPr/>
          <p:nvPr/>
        </p:nvSpPr>
        <p:spPr>
          <a:xfrm>
            <a:off x="0" y="0"/>
            <a:ext cx="12192000" cy="729344"/>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618988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13ADA-8E4C-702B-295A-A4CBA7EF47F1}"/>
              </a:ext>
            </a:extLst>
          </p:cNvPr>
          <p:cNvSpPr>
            <a:spLocks noGrp="1"/>
          </p:cNvSpPr>
          <p:nvPr>
            <p:ph type="title"/>
          </p:nvPr>
        </p:nvSpPr>
        <p:spPr>
          <a:xfrm>
            <a:off x="913775" y="174171"/>
            <a:ext cx="10364451" cy="1349829"/>
          </a:xfrm>
        </p:spPr>
        <p:txBody>
          <a:bodyPr/>
          <a:lstStyle/>
          <a:p>
            <a:r>
              <a:rPr lang="en-US" b="1" dirty="0">
                <a:solidFill>
                  <a:srgbClr val="002060"/>
                </a:solidFill>
                <a:latin typeface="Times New Roman" panose="02020603050405020304" pitchFamily="18" charset="0"/>
                <a:cs typeface="Times New Roman" panose="02020603050405020304" pitchFamily="18" charset="0"/>
              </a:rPr>
              <a:t>Research question</a:t>
            </a:r>
          </a:p>
        </p:txBody>
      </p:sp>
      <p:sp>
        <p:nvSpPr>
          <p:cNvPr id="3" name="Content Placeholder 2">
            <a:extLst>
              <a:ext uri="{FF2B5EF4-FFF2-40B4-BE49-F238E27FC236}">
                <a16:creationId xmlns:a16="http://schemas.microsoft.com/office/drawing/2014/main" id="{EB46808E-A0E8-C81C-1E3E-D2DD94490184}"/>
              </a:ext>
            </a:extLst>
          </p:cNvPr>
          <p:cNvSpPr>
            <a:spLocks noGrp="1"/>
          </p:cNvSpPr>
          <p:nvPr>
            <p:ph sz="quarter" idx="13"/>
          </p:nvPr>
        </p:nvSpPr>
        <p:spPr>
          <a:xfrm>
            <a:off x="914399" y="1240971"/>
            <a:ext cx="10363826" cy="4539342"/>
          </a:xfrm>
        </p:spPr>
        <p:txBody>
          <a:bodyPr/>
          <a:lstStyle/>
          <a:p>
            <a:r>
              <a:rPr lang="en-US" cap="none" dirty="0">
                <a:solidFill>
                  <a:srgbClr val="002060"/>
                </a:solidFill>
                <a:latin typeface="Times New Roman" panose="02020603050405020304" pitchFamily="18" charset="0"/>
                <a:cs typeface="Times New Roman" panose="02020603050405020304" pitchFamily="18" charset="0"/>
              </a:rPr>
              <a:t>Which product categories and sub category generate the highest and lowest profit?</a:t>
            </a:r>
          </a:p>
          <a:p>
            <a:r>
              <a:rPr lang="en-US" cap="none" dirty="0">
                <a:solidFill>
                  <a:srgbClr val="002060"/>
                </a:solidFill>
                <a:latin typeface="Times New Roman" panose="02020603050405020304" pitchFamily="18" charset="0"/>
                <a:cs typeface="Times New Roman" panose="02020603050405020304" pitchFamily="18" charset="0"/>
              </a:rPr>
              <a:t>How do sales and profit change over time(monthly trends)?</a:t>
            </a:r>
          </a:p>
          <a:p>
            <a:r>
              <a:rPr lang="en-US" cap="none" dirty="0">
                <a:solidFill>
                  <a:srgbClr val="002060"/>
                </a:solidFill>
                <a:latin typeface="Times New Roman" panose="02020603050405020304" pitchFamily="18" charset="0"/>
                <a:cs typeface="Times New Roman" panose="02020603050405020304" pitchFamily="18" charset="0"/>
              </a:rPr>
              <a:t>Which region contributes the most to sales but least to  profit?</a:t>
            </a:r>
          </a:p>
          <a:p>
            <a:r>
              <a:rPr lang="en-US" cap="none" dirty="0">
                <a:solidFill>
                  <a:srgbClr val="002060"/>
                </a:solidFill>
                <a:latin typeface="Times New Roman" panose="02020603050405020304" pitchFamily="18" charset="0"/>
                <a:cs typeface="Times New Roman" panose="02020603050405020304" pitchFamily="18" charset="0"/>
              </a:rPr>
              <a:t>How do discounts affect profit across different product categories?</a:t>
            </a:r>
          </a:p>
          <a:p>
            <a:pPr marL="0" indent="0">
              <a:buNone/>
            </a:pPr>
            <a:endParaRPr lang="en-US" dirty="0">
              <a:solidFill>
                <a:srgbClr val="00206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93E1A2B3-DC19-E001-73EA-A956E790C21C}"/>
              </a:ext>
            </a:extLst>
          </p:cNvPr>
          <p:cNvSpPr/>
          <p:nvPr/>
        </p:nvSpPr>
        <p:spPr>
          <a:xfrm>
            <a:off x="0" y="0"/>
            <a:ext cx="913774" cy="685800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840485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E10A428-75C1-F788-32C2-ED91D18634F8}"/>
              </a:ext>
            </a:extLst>
          </p:cNvPr>
          <p:cNvPicPr>
            <a:picLocks noGrp="1" noChangeAspect="1"/>
          </p:cNvPicPr>
          <p:nvPr>
            <p:ph sz="quarter" idx="13"/>
          </p:nvPr>
        </p:nvPicPr>
        <p:blipFill>
          <a:blip r:embed="rId2"/>
          <a:srcRect l="3837" t="22406" r="31965" b="15940"/>
          <a:stretch>
            <a:fillRect/>
          </a:stretch>
        </p:blipFill>
        <p:spPr>
          <a:xfrm>
            <a:off x="0" y="0"/>
            <a:ext cx="12050486" cy="6858000"/>
          </a:xfrm>
          <a:prstGeom prst="rect">
            <a:avLst/>
          </a:prstGeom>
        </p:spPr>
      </p:pic>
    </p:spTree>
    <p:extLst>
      <p:ext uri="{BB962C8B-B14F-4D97-AF65-F5344CB8AC3E}">
        <p14:creationId xmlns:p14="http://schemas.microsoft.com/office/powerpoint/2010/main" val="15118420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4">
            <a:extLst>
              <a:ext uri="{FF2B5EF4-FFF2-40B4-BE49-F238E27FC236}">
                <a16:creationId xmlns:a16="http://schemas.microsoft.com/office/drawing/2014/main" id="{E15879EC-DF3E-B9C0-5257-FFAB3A889E6E}"/>
              </a:ext>
            </a:extLst>
          </p:cNvPr>
          <p:cNvPicPr>
            <a:picLocks noChangeAspect="1"/>
          </p:cNvPicPr>
          <p:nvPr/>
        </p:nvPicPr>
        <p:blipFill>
          <a:blip r:embed="rId2"/>
          <a:srcRect l="12926" t="37018" r="69371" b="34009"/>
          <a:stretch>
            <a:fillRect/>
          </a:stretch>
        </p:blipFill>
        <p:spPr>
          <a:xfrm>
            <a:off x="0" y="1"/>
            <a:ext cx="12192000" cy="6858000"/>
          </a:xfrm>
          <a:prstGeom prst="rect">
            <a:avLst/>
          </a:prstGeom>
        </p:spPr>
      </p:pic>
    </p:spTree>
    <p:extLst>
      <p:ext uri="{BB962C8B-B14F-4D97-AF65-F5344CB8AC3E}">
        <p14:creationId xmlns:p14="http://schemas.microsoft.com/office/powerpoint/2010/main" val="20727038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a:extLst>
              <a:ext uri="{FF2B5EF4-FFF2-40B4-BE49-F238E27FC236}">
                <a16:creationId xmlns:a16="http://schemas.microsoft.com/office/drawing/2014/main" id="{6B7AB93A-E100-C6EC-912A-1FD5544A067E}"/>
              </a:ext>
            </a:extLst>
          </p:cNvPr>
          <p:cNvPicPr>
            <a:picLocks noChangeAspect="1"/>
          </p:cNvPicPr>
          <p:nvPr/>
        </p:nvPicPr>
        <p:blipFill>
          <a:blip r:embed="rId2"/>
          <a:srcRect l="31402" t="36942" r="50360" b="34687"/>
          <a:stretch>
            <a:fillRect/>
          </a:stretch>
        </p:blipFill>
        <p:spPr>
          <a:xfrm>
            <a:off x="0" y="0"/>
            <a:ext cx="12279085" cy="6858000"/>
          </a:xfrm>
          <a:prstGeom prst="rect">
            <a:avLst/>
          </a:prstGeom>
        </p:spPr>
      </p:pic>
    </p:spTree>
    <p:extLst>
      <p:ext uri="{BB962C8B-B14F-4D97-AF65-F5344CB8AC3E}">
        <p14:creationId xmlns:p14="http://schemas.microsoft.com/office/powerpoint/2010/main" val="31492504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a:extLst>
              <a:ext uri="{FF2B5EF4-FFF2-40B4-BE49-F238E27FC236}">
                <a16:creationId xmlns:a16="http://schemas.microsoft.com/office/drawing/2014/main" id="{BA10C58C-87EF-B658-2438-6D4E0C87A09A}"/>
              </a:ext>
            </a:extLst>
          </p:cNvPr>
          <p:cNvPicPr>
            <a:picLocks noChangeAspect="1"/>
          </p:cNvPicPr>
          <p:nvPr/>
        </p:nvPicPr>
        <p:blipFill>
          <a:blip r:embed="rId2"/>
          <a:srcRect l="50531" t="37143" r="33370" b="34287"/>
          <a:stretch>
            <a:fillRect/>
          </a:stretch>
        </p:blipFill>
        <p:spPr>
          <a:xfrm>
            <a:off x="0" y="0"/>
            <a:ext cx="12192000" cy="6858000"/>
          </a:xfrm>
          <a:prstGeom prst="rect">
            <a:avLst/>
          </a:prstGeom>
        </p:spPr>
      </p:pic>
    </p:spTree>
    <p:extLst>
      <p:ext uri="{BB962C8B-B14F-4D97-AF65-F5344CB8AC3E}">
        <p14:creationId xmlns:p14="http://schemas.microsoft.com/office/powerpoint/2010/main" val="22687660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a:extLst>
              <a:ext uri="{FF2B5EF4-FFF2-40B4-BE49-F238E27FC236}">
                <a16:creationId xmlns:a16="http://schemas.microsoft.com/office/drawing/2014/main" id="{0D609304-1C61-2ED9-1DA6-AD9441B48F4D}"/>
              </a:ext>
            </a:extLst>
          </p:cNvPr>
          <p:cNvPicPr>
            <a:picLocks noGrp="1" noChangeAspect="1"/>
          </p:cNvPicPr>
          <p:nvPr>
            <p:ph sz="quarter" idx="13"/>
          </p:nvPr>
        </p:nvPicPr>
        <p:blipFill>
          <a:blip r:embed="rId2"/>
          <a:srcRect l="12922" t="66614" r="59473" b="14931"/>
          <a:stretch>
            <a:fillRect/>
          </a:stretch>
        </p:blipFill>
        <p:spPr>
          <a:xfrm>
            <a:off x="0" y="0"/>
            <a:ext cx="12192000" cy="6858000"/>
          </a:xfrm>
          <a:prstGeom prst="rect">
            <a:avLst/>
          </a:prstGeom>
        </p:spPr>
      </p:pic>
    </p:spTree>
    <p:extLst>
      <p:ext uri="{BB962C8B-B14F-4D97-AF65-F5344CB8AC3E}">
        <p14:creationId xmlns:p14="http://schemas.microsoft.com/office/powerpoint/2010/main" val="38412803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a:extLst>
              <a:ext uri="{FF2B5EF4-FFF2-40B4-BE49-F238E27FC236}">
                <a16:creationId xmlns:a16="http://schemas.microsoft.com/office/drawing/2014/main" id="{2BDD58BB-8219-D445-3B47-0FDD17D2E0D3}"/>
              </a:ext>
            </a:extLst>
          </p:cNvPr>
          <p:cNvPicPr>
            <a:picLocks noChangeAspect="1"/>
          </p:cNvPicPr>
          <p:nvPr/>
        </p:nvPicPr>
        <p:blipFill>
          <a:blip r:embed="rId2"/>
          <a:srcRect l="41248" t="66721" r="33667" b="14732"/>
          <a:stretch>
            <a:fillRect/>
          </a:stretch>
        </p:blipFill>
        <p:spPr>
          <a:xfrm>
            <a:off x="0" y="0"/>
            <a:ext cx="12191999" cy="6786880"/>
          </a:xfrm>
          <a:prstGeom prst="rect">
            <a:avLst/>
          </a:prstGeom>
        </p:spPr>
      </p:pic>
    </p:spTree>
    <p:extLst>
      <p:ext uri="{BB962C8B-B14F-4D97-AF65-F5344CB8AC3E}">
        <p14:creationId xmlns:p14="http://schemas.microsoft.com/office/powerpoint/2010/main" val="38115269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0768D-7867-8FFD-CDD6-0F3D9CD52348}"/>
              </a:ext>
            </a:extLst>
          </p:cNvPr>
          <p:cNvSpPr>
            <a:spLocks noGrp="1"/>
          </p:cNvSpPr>
          <p:nvPr>
            <p:ph type="title"/>
          </p:nvPr>
        </p:nvSpPr>
        <p:spPr>
          <a:xfrm>
            <a:off x="913775" y="618517"/>
            <a:ext cx="10364451" cy="687769"/>
          </a:xfrm>
        </p:spPr>
        <p:txBody>
          <a:bodyPr/>
          <a:lstStyle/>
          <a:p>
            <a:r>
              <a:rPr lang="en-US" b="1" dirty="0">
                <a:solidFill>
                  <a:srgbClr val="002060"/>
                </a:solidFill>
                <a:latin typeface="Times New Roman" panose="02020603050405020304" pitchFamily="18" charset="0"/>
                <a:cs typeface="Times New Roman" panose="02020603050405020304" pitchFamily="18" charset="0"/>
              </a:rPr>
              <a:t>summary</a:t>
            </a:r>
          </a:p>
        </p:txBody>
      </p:sp>
      <p:sp>
        <p:nvSpPr>
          <p:cNvPr id="3" name="Content Placeholder 2">
            <a:extLst>
              <a:ext uri="{FF2B5EF4-FFF2-40B4-BE49-F238E27FC236}">
                <a16:creationId xmlns:a16="http://schemas.microsoft.com/office/drawing/2014/main" id="{4D20C843-900D-0AD2-3FD0-5B931B114F6C}"/>
              </a:ext>
            </a:extLst>
          </p:cNvPr>
          <p:cNvSpPr>
            <a:spLocks noGrp="1"/>
          </p:cNvSpPr>
          <p:nvPr>
            <p:ph sz="quarter" idx="13"/>
          </p:nvPr>
        </p:nvSpPr>
        <p:spPr>
          <a:xfrm>
            <a:off x="913774" y="1393372"/>
            <a:ext cx="10363826" cy="4397828"/>
          </a:xfrm>
        </p:spPr>
        <p:txBody>
          <a:bodyPr>
            <a:normAutofit fontScale="70000" lnSpcReduction="20000"/>
          </a:bodyPr>
          <a:lstStyle/>
          <a:p>
            <a:pPr marL="0" indent="0">
              <a:buNone/>
            </a:pPr>
            <a:r>
              <a:rPr lang="en-US" sz="2600" cap="none" dirty="0">
                <a:solidFill>
                  <a:srgbClr val="002060"/>
                </a:solidFill>
                <a:latin typeface="Times New Roman" panose="02020603050405020304" pitchFamily="18" charset="0"/>
                <a:cs typeface="Times New Roman" panose="02020603050405020304" pitchFamily="18" charset="0"/>
              </a:rPr>
              <a:t>The analysis of the superstore dataset shows that although the business is generating strong overall sales, profitability remains inconsistent across different product categories, regions, and customer segments.</a:t>
            </a:r>
          </a:p>
          <a:p>
            <a:pPr marL="0" indent="0">
              <a:buNone/>
            </a:pPr>
            <a:r>
              <a:rPr lang="en-US" sz="2600" cap="none" dirty="0">
                <a:solidFill>
                  <a:srgbClr val="002060"/>
                </a:solidFill>
                <a:latin typeface="Times New Roman" panose="02020603050405020304" pitchFamily="18" charset="0"/>
                <a:cs typeface="Times New Roman" panose="02020603050405020304" pitchFamily="18" charset="0"/>
              </a:rPr>
              <a:t>A key finding is that </a:t>
            </a:r>
            <a:r>
              <a:rPr lang="en-US" sz="2600" b="1" cap="none" dirty="0">
                <a:solidFill>
                  <a:srgbClr val="002060"/>
                </a:solidFill>
                <a:latin typeface="Times New Roman" panose="02020603050405020304" pitchFamily="18" charset="0"/>
                <a:cs typeface="Times New Roman" panose="02020603050405020304" pitchFamily="18" charset="0"/>
              </a:rPr>
              <a:t>high discount levels significantly reduce profit margins</a:t>
            </a:r>
            <a:r>
              <a:rPr lang="en-US" sz="2600" cap="none" dirty="0">
                <a:solidFill>
                  <a:srgbClr val="002060"/>
                </a:solidFill>
                <a:latin typeface="Times New Roman" panose="02020603050405020304" pitchFamily="18" charset="0"/>
                <a:cs typeface="Times New Roman" panose="02020603050405020304" pitchFamily="18" charset="0"/>
              </a:rPr>
              <a:t>, especially in certain product categories like furniture, where some products are sold at very low profit. This indicates that aggressive discount strategies are not always effective and may be harming overall financial performance.</a:t>
            </a:r>
          </a:p>
          <a:p>
            <a:pPr marL="0" indent="0">
              <a:buNone/>
            </a:pPr>
            <a:r>
              <a:rPr lang="en-US" sz="2600" cap="none" dirty="0">
                <a:solidFill>
                  <a:srgbClr val="002060"/>
                </a:solidFill>
                <a:latin typeface="Times New Roman" panose="02020603050405020304" pitchFamily="18" charset="0"/>
                <a:cs typeface="Times New Roman" panose="02020603050405020304" pitchFamily="18" charset="0"/>
              </a:rPr>
              <a:t>In terms of product performance, </a:t>
            </a:r>
            <a:r>
              <a:rPr lang="en-US" sz="2600" b="1" cap="none" dirty="0">
                <a:solidFill>
                  <a:srgbClr val="002060"/>
                </a:solidFill>
                <a:latin typeface="Times New Roman" panose="02020603050405020304" pitchFamily="18" charset="0"/>
                <a:cs typeface="Times New Roman" panose="02020603050405020304" pitchFamily="18" charset="0"/>
              </a:rPr>
              <a:t>technology products tend to generate higher profits</a:t>
            </a:r>
            <a:r>
              <a:rPr lang="en-US" sz="2600" cap="none" dirty="0">
                <a:solidFill>
                  <a:srgbClr val="002060"/>
                </a:solidFill>
                <a:latin typeface="Times New Roman" panose="02020603050405020304" pitchFamily="18" charset="0"/>
                <a:cs typeface="Times New Roman" panose="02020603050405020304" pitchFamily="18" charset="0"/>
              </a:rPr>
              <a:t>, while some sub-categories within furniture and office supplies underperform. This suggests that not all high-selling products contribute positively to profitability.</a:t>
            </a:r>
          </a:p>
          <a:p>
            <a:pPr marL="0" indent="0">
              <a:buNone/>
            </a:pPr>
            <a:r>
              <a:rPr lang="en-US" sz="2600" cap="none" dirty="0">
                <a:solidFill>
                  <a:srgbClr val="002060"/>
                </a:solidFill>
                <a:latin typeface="Times New Roman" panose="02020603050405020304" pitchFamily="18" charset="0"/>
                <a:cs typeface="Times New Roman" panose="02020603050405020304" pitchFamily="18" charset="0"/>
              </a:rPr>
              <a:t>Regional analysis reveals that </a:t>
            </a:r>
            <a:r>
              <a:rPr lang="en-US" sz="2600" b="1" cap="none" dirty="0">
                <a:solidFill>
                  <a:srgbClr val="002060"/>
                </a:solidFill>
                <a:latin typeface="Times New Roman" panose="02020603050405020304" pitchFamily="18" charset="0"/>
                <a:cs typeface="Times New Roman" panose="02020603050405020304" pitchFamily="18" charset="0"/>
              </a:rPr>
              <a:t>some regions contribute heavily to total sales but generate relatively low profit</a:t>
            </a:r>
            <a:r>
              <a:rPr lang="en-US" sz="2600" cap="none" dirty="0">
                <a:solidFill>
                  <a:srgbClr val="002060"/>
                </a:solidFill>
                <a:latin typeface="Times New Roman" panose="02020603050405020304" pitchFamily="18" charset="0"/>
                <a:cs typeface="Times New Roman" panose="02020603050405020304" pitchFamily="18" charset="0"/>
              </a:rPr>
              <a:t>, pointing to possible issues such as high operational costs, inefficient pricing strategies, or excessive discounting in those areas.</a:t>
            </a:r>
          </a:p>
          <a:p>
            <a:pPr marL="0" indent="0">
              <a:buNone/>
            </a:pPr>
            <a:endParaRPr lang="en-US"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458986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A6014-8752-2C0E-7993-B0CBC6116637}"/>
              </a:ext>
            </a:extLst>
          </p:cNvPr>
          <p:cNvSpPr>
            <a:spLocks noGrp="1"/>
          </p:cNvSpPr>
          <p:nvPr>
            <p:ph type="title"/>
          </p:nvPr>
        </p:nvSpPr>
        <p:spPr/>
        <p:txBody>
          <a:bodyPr/>
          <a:lstStyle/>
          <a:p>
            <a:r>
              <a:rPr lang="en-US" b="1" dirty="0">
                <a:solidFill>
                  <a:srgbClr val="002060"/>
                </a:solidFill>
                <a:latin typeface="Times New Roman" panose="02020603050405020304" pitchFamily="18" charset="0"/>
                <a:cs typeface="Times New Roman" panose="02020603050405020304" pitchFamily="18" charset="0"/>
              </a:rPr>
              <a:t>recommendation</a:t>
            </a:r>
          </a:p>
        </p:txBody>
      </p:sp>
      <p:sp>
        <p:nvSpPr>
          <p:cNvPr id="3" name="Content Placeholder 2">
            <a:extLst>
              <a:ext uri="{FF2B5EF4-FFF2-40B4-BE49-F238E27FC236}">
                <a16:creationId xmlns:a16="http://schemas.microsoft.com/office/drawing/2014/main" id="{5E2026B2-A8E1-FE08-725C-FE3F7F16FACC}"/>
              </a:ext>
            </a:extLst>
          </p:cNvPr>
          <p:cNvSpPr>
            <a:spLocks noGrp="1"/>
          </p:cNvSpPr>
          <p:nvPr>
            <p:ph sz="quarter" idx="13"/>
          </p:nvPr>
        </p:nvSpPr>
        <p:spPr/>
        <p:txBody>
          <a:bodyPr/>
          <a:lstStyle/>
          <a:p>
            <a:r>
              <a:rPr lang="en-US" cap="none" dirty="0">
                <a:solidFill>
                  <a:srgbClr val="002060"/>
                </a:solidFill>
                <a:latin typeface="Times New Roman" panose="02020603050405020304" pitchFamily="18" charset="0"/>
                <a:cs typeface="Times New Roman" panose="02020603050405020304" pitchFamily="18" charset="0"/>
              </a:rPr>
              <a:t>Based on the findings I recommend</a:t>
            </a:r>
          </a:p>
          <a:p>
            <a:r>
              <a:rPr lang="en-US" cap="none" dirty="0">
                <a:solidFill>
                  <a:srgbClr val="002060"/>
                </a:solidFill>
                <a:latin typeface="Times New Roman" panose="02020603050405020304" pitchFamily="18" charset="0"/>
                <a:cs typeface="Times New Roman" panose="02020603050405020304" pitchFamily="18" charset="0"/>
              </a:rPr>
              <a:t>Reducing excessive discounts on low-profit products</a:t>
            </a:r>
          </a:p>
          <a:p>
            <a:r>
              <a:rPr lang="en-US" cap="none">
                <a:solidFill>
                  <a:srgbClr val="002060"/>
                </a:solidFill>
                <a:latin typeface="Times New Roman" panose="02020603050405020304" pitchFamily="18" charset="0"/>
                <a:cs typeface="Times New Roman" panose="02020603050405020304" pitchFamily="18" charset="0"/>
              </a:rPr>
              <a:t>Improving </a:t>
            </a:r>
            <a:r>
              <a:rPr lang="en-US" cap="none" dirty="0">
                <a:solidFill>
                  <a:srgbClr val="002060"/>
                </a:solidFill>
                <a:latin typeface="Times New Roman" panose="02020603050405020304" pitchFamily="18" charset="0"/>
                <a:cs typeface="Times New Roman" panose="02020603050405020304" pitchFamily="18" charset="0"/>
              </a:rPr>
              <a:t>performance in underperforming regions</a:t>
            </a:r>
          </a:p>
          <a:p>
            <a:r>
              <a:rPr lang="en-US" cap="none" dirty="0">
                <a:solidFill>
                  <a:srgbClr val="002060"/>
                </a:solidFill>
                <a:latin typeface="Times New Roman" panose="02020603050405020304" pitchFamily="18" charset="0"/>
                <a:cs typeface="Times New Roman" panose="02020603050405020304" pitchFamily="18" charset="0"/>
              </a:rPr>
              <a:t>Monitoring sales growth trends for strategic planning</a:t>
            </a:r>
          </a:p>
          <a:p>
            <a:pPr lvl="1"/>
            <a:endParaRPr lang="en-US" dirty="0">
              <a:solidFill>
                <a:srgbClr val="002060"/>
              </a:solidFill>
              <a:latin typeface="Times New Roman" panose="02020603050405020304" pitchFamily="18" charset="0"/>
              <a:cs typeface="Times New Roman" panose="02020603050405020304" pitchFamily="18" charset="0"/>
            </a:endParaRPr>
          </a:p>
          <a:p>
            <a:pPr lvl="1"/>
            <a:endParaRPr lang="en-US" dirty="0">
              <a:solidFill>
                <a:srgbClr val="00206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28D7B0C5-F9C8-A979-CE2A-FAE7F4571E48}"/>
              </a:ext>
            </a:extLst>
          </p:cNvPr>
          <p:cNvSpPr/>
          <p:nvPr/>
        </p:nvSpPr>
        <p:spPr>
          <a:xfrm>
            <a:off x="0" y="0"/>
            <a:ext cx="913774" cy="685800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73842196"/>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Droplet</Template>
  <TotalTime>317</TotalTime>
  <Words>505</Words>
  <Application>Microsoft Office PowerPoint</Application>
  <PresentationFormat>Widescreen</PresentationFormat>
  <Paragraphs>44</Paragraphs>
  <Slides>15</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Times New Roman</vt:lpstr>
      <vt:lpstr>Tw Cen MT</vt:lpstr>
      <vt:lpstr>Droplet</vt:lpstr>
      <vt:lpstr>PowerPoint Presentation</vt:lpstr>
      <vt:lpstr>PowerPoint Presentation</vt:lpstr>
      <vt:lpstr>introduction</vt:lpstr>
      <vt:lpstr>About the dataset</vt:lpstr>
      <vt:lpstr>Problem statement</vt:lpstr>
      <vt:lpstr> Aim and objectives</vt:lpstr>
      <vt:lpstr>Research question</vt:lpstr>
      <vt:lpstr>PowerPoint Presentation</vt:lpstr>
      <vt:lpstr>PowerPoint Presentation</vt:lpstr>
      <vt:lpstr>PowerPoint Presentation</vt:lpstr>
      <vt:lpstr>PowerPoint Presentation</vt:lpstr>
      <vt:lpstr>PowerPoint Presentation</vt:lpstr>
      <vt:lpstr>PowerPoint Presentation</vt:lpstr>
      <vt:lpstr>summary</vt:lpstr>
      <vt:lpstr>recommendation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DELL</dc:creator>
  <cp:lastModifiedBy>DELL</cp:lastModifiedBy>
  <cp:revision>25</cp:revision>
  <dcterms:created xsi:type="dcterms:W3CDTF">2026-04-01T14:51:04Z</dcterms:created>
  <dcterms:modified xsi:type="dcterms:W3CDTF">2026-08-22T19:34:09Z</dcterms:modified>
</cp:coreProperties>
</file>